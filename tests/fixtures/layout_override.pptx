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73A6A-17CE-FBA9-4BE5-315F33AE6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EAA8A-B01E-6404-1A04-34F33F6B0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87D98-758F-E7E8-5DBA-611406D75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3D570-0CF0-3E76-9264-CB366A2D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A911D-9634-8FA1-6193-50A54596E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17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5B9B-ADFE-CEF2-5D01-98D9BAA13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8E82A-2DA5-9B9A-3A7B-DD18259D5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B0424-D465-595C-F170-626901A1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8394D-7083-8AA2-82D2-A2E6CC147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5702C-43DF-B90C-4E22-934048B7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5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ixture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5B9B-ADFE-CEF2-5D01-98D9BAA13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>
                <a:solidFill>
                  <a:srgbClr val="E2A3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8E82A-2DA5-9B9A-3A7B-DD18259D5F8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algn="just">
              <a:spcBef>
                <a:spcPts val="600"/>
              </a:spcBef>
              <a:spcAft>
                <a:spcPts val="1300"/>
              </a:spcAft>
              <a:buClr>
                <a:srgbClr val="1F4E79"/>
              </a:buClr>
              <a:buSzPct val="110000"/>
              <a:buFont typeface="Arial" panose="020B0604020202020204" pitchFamily="34" charset="0"/>
              <a:buChar char="»"/>
              <a:defRPr sz="1500">
                <a:latin typeface="Times New Roman" panose="02020603050405020304" pitchFamily="18" charset="0"/>
              </a:defRPr>
            </a:lvl1pPr>
            <a:lvl2pPr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◦"/>
              <a:defRPr sz="1200"/>
            </a:lvl2pPr>
          </a:lstStyle>
          <a:p>
            <a:pPr lvl="0"/>
            <a:r>
              <a:rPr lang="en-US"/>
              <a:t>Layout B first level</a:t>
            </a:r>
          </a:p>
          <a:p>
            <a:pPr lvl="1"/>
            <a:r>
              <a:rPr lang="en-US"/>
              <a:t>Layout B 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B0424-D465-595C-F170-626901A1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8394D-7083-8AA2-82D2-A2E6CC147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5702C-43DF-B90C-4E22-934048B7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78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ixtur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5B9B-ADFE-CEF2-5D01-98D9BAA13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 sz="3000" i="1">
                <a:solidFill>
                  <a:srgbClr val="7C5CA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8E82A-2DA5-9B9A-3A7B-DD18259D5F8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buSzPct val="80000"/>
              <a:buFont typeface="Arial" panose="020B0604020202020204" pitchFamily="34" charset="0"/>
              <a:buChar char="◆"/>
              <a:defRPr sz="2100">
                <a:solidFill>
                  <a:srgbClr val="2E5E4E"/>
                </a:solidFill>
              </a:defRPr>
            </a:lvl1pPr>
            <a:lvl2pPr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▪"/>
              <a:defRPr sz="1700">
                <a:solidFill>
                  <a:srgbClr val="C0504D"/>
                </a:solidFill>
              </a:defRPr>
            </a:lvl2pPr>
            <a:lvl3pPr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×"/>
              <a:defRPr sz="1400"/>
            </a:lvl3pPr>
          </a:lstStyle>
          <a:p>
            <a:pPr lvl="0"/>
            <a:r>
              <a:rPr lang="en-US"/>
              <a:t>Layout A first level</a:t>
            </a:r>
          </a:p>
          <a:p>
            <a:pPr lvl="1"/>
            <a:r>
              <a:rPr lang="en-US"/>
              <a:t>Layout A second level</a:t>
            </a:r>
          </a:p>
          <a:p>
            <a:pPr lvl="2"/>
            <a:r>
              <a:rPr lang="en-US"/>
              <a:t>Layout A 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B0424-D465-595C-F170-626901A1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8394D-7083-8AA2-82D2-A2E6CC147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5702C-43DF-B90C-4E22-934048B7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6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155A-7C80-C48C-D493-2BE6B232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74ABC-4FED-6816-948D-AC22DBE44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A2402-76BC-ED72-21E2-CF86004AD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851F3-69EE-EF5D-CC9C-1505E202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61AC9-4742-215F-1F32-67DFE808A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62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33622-0AD0-8A92-306E-D2A54DBD2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36CD4-2991-F312-B322-9B0359665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08ABC-9AE4-7824-3154-491D391E9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D2D98-1A0E-88CB-DEB5-CC7D5CA1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7E03A-FC55-3520-16BF-677FF7115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C4C7D-694C-B94A-AE29-EEAD61C0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2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A244F-9A4B-34DA-7A4D-671B4FCC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73CD9-60DA-D0FB-68BC-86D855F84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0CA56-89C8-6906-A07D-ACD9BC53A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C4DF0A-AE0A-5C4A-ABD9-17EEB1359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D24EB-0B09-CA47-280E-3ECC60B7F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D18481-2BA6-017E-6E60-CA093FD41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6BC27A-E4C6-4D70-D4BA-063FA42C7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68FE82-093A-A23A-78D6-C0CF8F61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34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070E7-5C22-70B7-6765-47BFF823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0191A-7245-1EF5-FD51-4BF37A37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94F0C-1EC1-C260-412C-280407111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F9FA46-AC60-A8A4-B31E-F6558534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46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C913DA-AC1E-4F38-6CC1-42851A0AD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E6EC9-7FB5-397A-56E2-469E6A49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87D25-9167-5672-3717-F9DB36BE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18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3E9B-54E1-F947-2D98-8399AC4E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E3FDB-53DD-1E15-9103-B8932DE59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ECF21-FC0B-FD97-4DEF-EE7AF24FA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2976D-B288-9653-2A1D-A3B45ABE1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C22A3-F2B8-E4C5-FD54-D5F4F5DB1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9BC0B-2D94-B8AB-E20B-36821A4AF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73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D3812-7874-908B-259F-4067B185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910578-7EA9-1D4C-7223-0362174E2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BAD49-333D-9DDE-5D5D-6500A9669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8F022-8E68-A61E-3B9D-F88970219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65C84-1566-8EBE-FC98-369D2D1F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1884F-D85C-3164-A7B2-13973C10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61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D29BA-307F-6E31-5021-506C9474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56627-6680-DA46-E02A-A1EC84229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0A950-E980-A53B-B531-9B551B516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8EC89-029E-025A-C7CE-73C137193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6F2A7-0392-1D81-C788-3146F16A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52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CFFBFE-FE95-96A6-FE34-E75F9E9C8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FC8A6-0B86-4A54-D2E1-9104C3906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04BB0-2B87-682F-163D-CAA47312D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CCA19-D814-AB4A-ACE8-3EE0F0CA9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679DE-84D1-3FD7-0515-0B504E3C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54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ixtureB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7D9702-8296-9523-D382-7FFDE563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FAE28-E49B-1CFD-70D8-E97209A6E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88A3-0E3D-F5D2-ACC2-E5DE2F2D2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C5365-ABF8-4E65-87DB-B4BC961EC47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5D325-954D-520D-806E-15E1B59B80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A9F06-F871-64BD-0ABE-CCAB3BD2C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CA892-B079-4C9C-811C-57995E5BB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5000"/>
        </a:lnSpc>
        <a:spcBef>
          <a:spcPts val="500"/>
        </a:spcBef>
        <a:spcAft>
          <a:spcPts val="900"/>
        </a:spcAft>
        <a:buSzPct val="90000"/>
        <a:buFont typeface="Arial" panose="020B0604020202020204" pitchFamily="34" charset="0"/>
        <a:buChar char="–"/>
        <a:defRPr sz="19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400"/>
        </a:spcBef>
        <a:spcAft>
          <a:spcPts val="700"/>
        </a:spcAft>
        <a:buSzPct val="80000"/>
        <a:buFont typeface="Arial" panose="020B0604020202020204" pitchFamily="34" charset="0"/>
        <a:buChar char="■"/>
        <a:defRPr sz="1600" kern="1200">
          <a:solidFill>
            <a:srgbClr val="3F3F6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SzPct val="100000"/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6DC3B-871D-0B7F-8057-4EADBA68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Portfolio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3E97A-EAF2-DFEE-84E8-9702B42B7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Core segment holds share in a flat market</a:t>
            </a:r>
          </a:p>
          <a:p>
            <a:pPr lvl="1"/>
            <a:r>
              <a:rPr lang="en-US"/>
              <a:t>Volume steady while list prices firmed</a:t>
            </a:r>
          </a:p>
          <a:p>
            <a:pPr lvl="2"/>
            <a:r>
              <a:rPr lang="en-US"/>
              <a:t>Discounting concentrated in two accounts</a:t>
            </a:r>
          </a:p>
          <a:p>
            <a:r>
              <a:rPr lang="en-US"/>
              <a:t>Growth segment doubled its pipeline</a:t>
            </a:r>
          </a:p>
          <a:p>
            <a:pPr lvl="1"/>
            <a:r>
              <a:rPr lang="en-US"/>
              <a:t>Six pilot programs converted to contracts</a:t>
            </a:r>
          </a:p>
          <a:p>
            <a:r>
              <a:rPr lang="en-US"/>
              <a:t>Legacy products enter managed decline</a:t>
            </a:r>
          </a:p>
          <a:p>
            <a:pPr lvl="1"/>
            <a:r>
              <a:rPr lang="en-US"/>
              <a:t>Support commitments honored through next year</a:t>
            </a:r>
          </a:p>
        </p:txBody>
      </p:sp>
    </p:spTree>
    <p:extLst>
      <p:ext uri="{BB962C8B-B14F-4D97-AF65-F5344CB8AC3E}">
        <p14:creationId xmlns:p14="http://schemas.microsoft.com/office/powerpoint/2010/main" val="197122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5FD4-F7A6-E0B5-0DA8-CEFDEF99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Financial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B8711-1DEB-F9FE-3BF5-340099A68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Revenue expanded ahead of the annual plan</a:t>
            </a:r>
          </a:p>
          <a:p>
            <a:pPr lvl="1"/>
            <a:r>
              <a:rPr lang="en-US"/>
              <a:t>Services mix improved gross margin</a:t>
            </a:r>
          </a:p>
          <a:p>
            <a:r>
              <a:rPr lang="en-US"/>
              <a:t>Operating costs held below budget</a:t>
            </a:r>
          </a:p>
          <a:p>
            <a:pPr lvl="1"/>
            <a:r>
              <a:rPr lang="en-US"/>
              <a:t>Hiring deferred in two support functions</a:t>
            </a:r>
          </a:p>
          <a:p>
            <a:r>
              <a:rPr lang="en-US"/>
              <a:t>Cash conversion strengthened quarter over quarter</a:t>
            </a:r>
          </a:p>
          <a:p>
            <a:pPr lvl="1"/>
            <a:r>
              <a:rPr lang="en-US"/>
              <a:t>Receivables aging returned to target</a:t>
            </a:r>
          </a:p>
          <a:p>
            <a:r>
              <a:rPr lang="en-US"/>
              <a:t>Full year guidance affirmed at the midpoint</a:t>
            </a:r>
          </a:p>
          <a:p>
            <a:pPr lvl="1"/>
            <a:r>
              <a:rPr lang="en-US"/>
              <a:t>Sensitivity range narrowed on stable demand</a:t>
            </a:r>
          </a:p>
        </p:txBody>
      </p:sp>
    </p:spTree>
    <p:extLst>
      <p:ext uri="{BB962C8B-B14F-4D97-AF65-F5344CB8AC3E}">
        <p14:creationId xmlns:p14="http://schemas.microsoft.com/office/powerpoint/2010/main" val="1691014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5CBE-E473-AF64-DB75-A2A01B61F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Execution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7F49B-E8D1-80FD-F6E3-31CC3DB45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Phase one stabilizes the operating baseline</a:t>
            </a:r>
          </a:p>
          <a:p>
            <a:pPr lvl="1"/>
            <a:r>
              <a:rPr lang="en-US"/>
              <a:t>Critical process gaps closed by design sprints</a:t>
            </a:r>
          </a:p>
          <a:p>
            <a:r>
              <a:rPr lang="en-US"/>
              <a:t>Phase two scales the delivery model</a:t>
            </a:r>
          </a:p>
          <a:p>
            <a:pPr lvl="1"/>
            <a:r>
              <a:rPr lang="en-US"/>
              <a:t>Playbooks rolled out to every region</a:t>
            </a:r>
          </a:p>
          <a:p>
            <a:pPr lvl="2"/>
            <a:r>
              <a:rPr lang="en-US"/>
              <a:t>Certification required for pod leads</a:t>
            </a:r>
          </a:p>
          <a:p>
            <a:r>
              <a:rPr lang="en-US"/>
              <a:t>Phase three institutionalizes improvement</a:t>
            </a:r>
          </a:p>
        </p:txBody>
      </p:sp>
    </p:spTree>
    <p:extLst>
      <p:ext uri="{BB962C8B-B14F-4D97-AF65-F5344CB8AC3E}">
        <p14:creationId xmlns:p14="http://schemas.microsoft.com/office/powerpoint/2010/main" val="1562731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4FB2-D2A7-E003-0553-9501EAA24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Delivery checkpoints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7A6BF-A574-6385-7084-E37995508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Milestones tracked against the master schedule</a:t>
            </a:r>
          </a:p>
          <a:p>
            <a:pPr lvl="1"/>
            <a:r>
              <a:rPr lang="en-US"/>
              <a:t>Escalations reviewed at the weekly forum</a:t>
            </a:r>
          </a:p>
        </p:txBody>
      </p:sp>
      <p:sp>
        <p:nvSpPr>
          <p:cNvPr id="4" name="FloatNoteGovernance">
            <a:extLst>
              <a:ext uri="{FF2B5EF4-FFF2-40B4-BE49-F238E27FC236}">
                <a16:creationId xmlns:a16="http://schemas.microsoft.com/office/drawing/2014/main" id="{EA305C29-72ED-0861-5D17-4A449D191182}"/>
              </a:ext>
            </a:extLst>
          </p:cNvPr>
          <p:cNvSpPr txBox="1"/>
          <p:nvPr/>
        </p:nvSpPr>
        <p:spPr>
          <a:xfrm>
            <a:off x="6350000" y="1905000"/>
            <a:ext cx="381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Checkpoint owners rotate monthly</a:t>
            </a:r>
          </a:p>
          <a:p>
            <a:r>
              <a:rPr lang="en-US"/>
              <a:t>Minutes filed within two days</a:t>
            </a:r>
          </a:p>
        </p:txBody>
      </p:sp>
      <p:sp>
        <p:nvSpPr>
          <p:cNvPr id="5" name="FloatCaptionDates">
            <a:extLst>
              <a:ext uri="{FF2B5EF4-FFF2-40B4-BE49-F238E27FC236}">
                <a16:creationId xmlns:a16="http://schemas.microsoft.com/office/drawing/2014/main" id="{18B85E91-60A4-0E0C-6936-3B2F30EA5A67}"/>
              </a:ext>
            </a:extLst>
          </p:cNvPr>
          <p:cNvSpPr txBox="1"/>
          <p:nvPr/>
        </p:nvSpPr>
        <p:spPr>
          <a:xfrm>
            <a:off x="6350000" y="31750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All dates are working assumptions</a:t>
            </a:r>
          </a:p>
        </p:txBody>
      </p:sp>
      <p:sp>
        <p:nvSpPr>
          <p:cNvPr id="6" name="FloatNoteReadiness">
            <a:extLst>
              <a:ext uri="{FF2B5EF4-FFF2-40B4-BE49-F238E27FC236}">
                <a16:creationId xmlns:a16="http://schemas.microsoft.com/office/drawing/2014/main" id="{1F07C948-94C2-CC9C-237F-6DAC568D6C9A}"/>
              </a:ext>
            </a:extLst>
          </p:cNvPr>
          <p:cNvSpPr txBox="1"/>
          <p:nvPr/>
        </p:nvSpPr>
        <p:spPr>
          <a:xfrm>
            <a:off x="762000" y="5334000"/>
            <a:ext cx="482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Readiness reviews precede every gate</a:t>
            </a:r>
          </a:p>
          <a:p>
            <a:r>
              <a:rPr lang="en-US"/>
              <a:t>Exceptions require sponsor approval</a:t>
            </a:r>
          </a:p>
        </p:txBody>
      </p:sp>
      <p:sp>
        <p:nvSpPr>
          <p:cNvPr id="7" name="FloatShapeGate1">
            <a:extLst>
              <a:ext uri="{FF2B5EF4-FFF2-40B4-BE49-F238E27FC236}">
                <a16:creationId xmlns:a16="http://schemas.microsoft.com/office/drawing/2014/main" id="{36BBDBAB-81A5-25A6-06D7-4687370DCB6B}"/>
              </a:ext>
            </a:extLst>
          </p:cNvPr>
          <p:cNvSpPr/>
          <p:nvPr/>
        </p:nvSpPr>
        <p:spPr>
          <a:xfrm>
            <a:off x="6350000" y="4064000"/>
            <a:ext cx="1778000" cy="1016000"/>
          </a:xfrm>
          <a:prstGeom prst="roundRect">
            <a:avLst>
              <a:gd name="adj" fmla="val 28000"/>
            </a:avLst>
          </a:prstGeom>
          <a:solidFill>
            <a:srgbClr val="F2E8D8"/>
          </a:solidFill>
          <a:ln w="28575">
            <a:solidFill>
              <a:srgbClr val="A63D5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Gate 1</a:t>
            </a:r>
          </a:p>
        </p:txBody>
      </p:sp>
      <p:sp>
        <p:nvSpPr>
          <p:cNvPr id="8" name="FloatShapeGate2">
            <a:extLst>
              <a:ext uri="{FF2B5EF4-FFF2-40B4-BE49-F238E27FC236}">
                <a16:creationId xmlns:a16="http://schemas.microsoft.com/office/drawing/2014/main" id="{E76040F3-8DFB-E700-5DB0-9F69EC0A9EA3}"/>
              </a:ext>
            </a:extLst>
          </p:cNvPr>
          <p:cNvSpPr/>
          <p:nvPr/>
        </p:nvSpPr>
        <p:spPr>
          <a:xfrm>
            <a:off x="8382000" y="4064000"/>
            <a:ext cx="1778000" cy="1016000"/>
          </a:xfrm>
          <a:prstGeom prst="chevron">
            <a:avLst/>
          </a:prstGeom>
          <a:solidFill>
            <a:srgbClr val="3E8FB0"/>
          </a:solidFill>
          <a:ln w="22225">
            <a:solidFill>
              <a:srgbClr val="1F4E79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Gate 2</a:t>
            </a:r>
          </a:p>
        </p:txBody>
      </p:sp>
    </p:spTree>
    <p:extLst>
      <p:ext uri="{BB962C8B-B14F-4D97-AF65-F5344CB8AC3E}">
        <p14:creationId xmlns:p14="http://schemas.microsoft.com/office/powerpoint/2010/main" val="159901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2E"/>
      </a:dk1>
      <a:lt1>
        <a:srgbClr val="FDFBF7"/>
      </a:lt1>
      <a:dk2>
        <a:srgbClr val="1F4E79"/>
      </a:dk2>
      <a:lt2>
        <a:srgbClr val="E8E4D8"/>
      </a:lt2>
      <a:accent1>
        <a:srgbClr val="C0504D"/>
      </a:accent1>
      <a:accent2>
        <a:srgbClr val="6B9F59"/>
      </a:accent2>
      <a:accent3>
        <a:srgbClr val="7C5CA6"/>
      </a:accent3>
      <a:accent4>
        <a:srgbClr val="E2A33D"/>
      </a:accent4>
      <a:accent5>
        <a:srgbClr val="3E8FB0"/>
      </a:accent5>
      <a:accent6>
        <a:srgbClr val="A63D57"/>
      </a:accent6>
      <a:hlink>
        <a:srgbClr val="2E86AB"/>
      </a:hlink>
      <a:folHlink>
        <a:srgbClr val="8C5E93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Georgia</vt:lpstr>
      <vt:lpstr>Times New Roman</vt:lpstr>
      <vt:lpstr>Office Theme</vt:lpstr>
      <vt:lpstr>Portfolio review</vt:lpstr>
      <vt:lpstr>Financial summary</vt:lpstr>
      <vt:lpstr>Execution roadmap</vt:lpstr>
      <vt:lpstr>Delivery checkpoints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Timmons</dc:creator>
  <cp:lastModifiedBy>Matt Timmons</cp:lastModifiedBy>
  <cp:revision>1</cp:revision>
  <dcterms:created xsi:type="dcterms:W3CDTF">2026-07-04T12:50:49Z</dcterms:created>
  <dcterms:modified xsi:type="dcterms:W3CDTF">2026-07-04T12:50:49Z</dcterms:modified>
</cp:coreProperties>
</file>