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460F-BD59-92D3-BF4E-EC5041489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7FF4C-032F-57C9-9165-B87AE1C84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58283-C1F4-5079-F50A-0C6719FE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76C88-CC67-0B66-5DAA-C74C502E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DBC20-5095-BA65-0E93-A759EF90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2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3183-6146-BA70-3D22-913EB3CB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8D1F-3E9F-C054-B8E5-953D13ED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229D-7A80-D015-DD72-962D6DFD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C5C79-C5A3-0929-987A-51401314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EEF0-A667-213C-5981-A4903782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6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8811-BCEE-F25B-78EE-98C35183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C0A94-40B9-B952-BE81-5A3321321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A13C8-D4DA-80CD-4F32-8980C4CC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4C86-1F07-C6EE-C12E-783DCB60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8606-A2EA-2DEB-9748-0737DEA6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1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D095-BCE5-E737-4C1F-C8FAB783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AD776-CE9A-0947-7A1B-E131C10DF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24DC1-A82F-421E-8FC4-3334CC817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6D79C-D0DB-CE28-4E1B-B0D321DC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0514E-A7AA-6580-3364-1E88EC09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210E4-3A27-FAD3-906F-01B1EC40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0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1262-E304-C232-5759-14A93799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E1BE8-8495-82BD-79C1-2785FDD5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5407B-9066-E9AF-B65C-6DDB24E10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F5638-7281-5C28-C3DD-B913E9A37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45E88-E248-EE7E-C94C-81DB4CE19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B005B-6920-2AA9-EDC2-8CB31056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B2DF4-9FA6-9FE5-0E73-23EE2FF7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5914E-2303-718A-9CD5-19253563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9F04-2FDE-4E04-964B-1A2938DA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9D231-9A56-7F0A-95A9-E8971B698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49E01-E8FA-BCD2-5B61-F6B3E57B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80F7A-D610-2C73-7092-E1A7B614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63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6AC4B-6002-669F-6F5E-EFA8BB08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04EDC-6799-A4E1-AE8C-1698CE0C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5747-F722-0B18-581E-22171BE3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3893-D8F5-1AB5-7EAF-9162E6A44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BF6E-01D3-27BF-5CD1-89CB5983B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D4517-530E-C899-A899-42E397E2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8F249-003F-7A4E-8BE5-902127EA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01138-D866-2682-321F-D241BFA2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2ACAC-3E09-4667-DB87-C2D634D8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7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2D0C-6DA3-1F76-54F9-6ACDF08B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367E9-8B2B-A806-8800-7C60FDD36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4654F-DBF8-CF59-3767-5C875FD6D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CD8C5-26FF-729E-D534-D5509DC9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7A009-3769-E544-A661-C6603C24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38E45-ED91-8EEF-B45B-5AF105C4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4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F23D5-9CBC-45AA-9E93-4EEAB663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1341-3775-C9C6-8DA7-1871C8E89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B8246-06E2-02DB-69EE-BB14F7A5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F1150-175E-856C-45B1-96041CBE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43EF-5185-E387-355D-C557D223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D3DD9-52F4-CF5F-7B1F-A5311912C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EF8D2-ADDC-B477-6B79-2F8ED5CAA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1C54-4FD3-F580-4F38-BE768B1E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33763-CFD8-238C-6878-5501BF81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2C1FF-2083-7640-A82F-0C7DABE5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6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B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D1F27-34AD-9A30-90C9-349D883E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0B62D-DF13-81F5-8DD0-7D9FE0F03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B66B-8DBB-A900-FCD7-8F29B61D8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2806B-C18E-4EAD-B967-2F6B85E87F6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4919C-0223-BF62-0B25-42D88D727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B7FD-B6DB-4AD1-1832-C1B16AE33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6A9AA-319A-4CB4-BE22-23A3C57CE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7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5000"/>
        </a:lnSpc>
        <a:spcBef>
          <a:spcPts val="500"/>
        </a:spcBef>
        <a:spcAft>
          <a:spcPts val="900"/>
        </a:spcAft>
        <a:buSzPct val="90000"/>
        <a:buFont typeface="Arial" panose="020B0604020202020204" pitchFamily="34" charset="0"/>
        <a:buChar char="–"/>
        <a:defRPr sz="19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700"/>
        </a:spcAft>
        <a:buSzPct val="80000"/>
        <a:buFont typeface="Arial" panose="020B0604020202020204" pitchFamily="34" charset="0"/>
        <a:buChar char="■"/>
        <a:defRPr sz="1600" kern="1200">
          <a:solidFill>
            <a:srgbClr val="3F3F6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SzPct val="100000"/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AED2-FE2E-F6E0-91D8-92884C415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Acme Corp Market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B2160-E98D-BB2D-32DE-BF4A9EC58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Prepared by the Strategy Team</a:t>
            </a:r>
          </a:p>
          <a:p>
            <a:r>
              <a:rPr lang="en-US"/>
              <a:t>Q3 planning cycle</a:t>
            </a:r>
          </a:p>
        </p:txBody>
      </p:sp>
    </p:spTree>
    <p:extLst>
      <p:ext uri="{BB962C8B-B14F-4D97-AF65-F5344CB8AC3E}">
        <p14:creationId xmlns:p14="http://schemas.microsoft.com/office/powerpoint/2010/main" val="105725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E9E2-059B-5F9B-FADF-82F636CF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6446D-1DE6-51CF-2197-2EEE22ADD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Global demand recovered across all regions</a:t>
            </a:r>
          </a:p>
          <a:p>
            <a:r>
              <a:rPr lang="en-US"/>
              <a:t>Pricing pressure eased through the second quarter</a:t>
            </a:r>
          </a:p>
          <a:p>
            <a:pPr lvl="1"/>
            <a:r>
              <a:rPr lang="en-US"/>
              <a:t>Raw material costs declined four percent</a:t>
            </a:r>
          </a:p>
          <a:p>
            <a:pPr lvl="1"/>
            <a:r>
              <a:rPr lang="en-US"/>
              <a:t>Logistics lead times returned to baseline</a:t>
            </a:r>
          </a:p>
          <a:p>
            <a:pPr lvl="2"/>
            <a:r>
              <a:rPr lang="en-US"/>
              <a:t>Ocean freight rates reached a two year low</a:t>
            </a:r>
          </a:p>
          <a:p>
            <a:r>
              <a:rPr lang="en-US"/>
              <a:t>Competitive intensity remains elevated</a:t>
            </a:r>
          </a:p>
          <a:p>
            <a:pPr lvl="1"/>
            <a:r>
              <a:rPr lang="en-US"/>
              <a:t>Two new entrants appeared in the value segment</a:t>
            </a:r>
          </a:p>
          <a:p>
            <a:r>
              <a:rPr lang="en-US"/>
              <a:t>Regulatory timeline unchanged for the year</a:t>
            </a:r>
          </a:p>
        </p:txBody>
      </p:sp>
    </p:spTree>
    <p:extLst>
      <p:ext uri="{BB962C8B-B14F-4D97-AF65-F5344CB8AC3E}">
        <p14:creationId xmlns:p14="http://schemas.microsoft.com/office/powerpoint/2010/main" val="316303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429D-0934-8433-F9E4-3DE1CE1C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Strategic 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B46B-50D4-3979-E034-509692AD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Expand the premium product line</a:t>
            </a:r>
          </a:p>
          <a:p>
            <a:pPr lvl="1"/>
            <a:r>
              <a:rPr lang="en-US"/>
              <a:t>Launch two flagship variants next quarter</a:t>
            </a:r>
          </a:p>
          <a:p>
            <a:r>
              <a:rPr lang="en-US"/>
              <a:t>Consolidate regional distribution partners</a:t>
            </a:r>
          </a:p>
          <a:p>
            <a:pPr lvl="1"/>
            <a:r>
              <a:rPr lang="en-US"/>
              <a:t>Reduce partner count from twelve to five</a:t>
            </a:r>
          </a:p>
          <a:p>
            <a:pPr lvl="2"/>
            <a:r>
              <a:rPr lang="en-US"/>
              <a:t>Retain coverage in all core markets</a:t>
            </a:r>
          </a:p>
          <a:p>
            <a:r>
              <a:rPr lang="en-US"/>
              <a:t>Invest in demand forecasting capability</a:t>
            </a:r>
          </a:p>
          <a:p>
            <a:pPr lvl="1"/>
            <a:r>
              <a:rPr lang="en-US"/>
              <a:t>Stand up a pricing analytics cell</a:t>
            </a:r>
          </a:p>
          <a:p>
            <a:pPr lvl="2"/>
            <a:r>
              <a:rPr lang="en-US"/>
              <a:t>Quarterly reviews with regional leads</a:t>
            </a:r>
          </a:p>
        </p:txBody>
      </p:sp>
    </p:spTree>
    <p:extLst>
      <p:ext uri="{BB962C8B-B14F-4D97-AF65-F5344CB8AC3E}">
        <p14:creationId xmlns:p14="http://schemas.microsoft.com/office/powerpoint/2010/main" val="133495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EF2F-06C5-EE48-489F-3FCA2987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model at a glance</a:t>
            </a:r>
          </a:p>
        </p:txBody>
      </p:sp>
      <p:sp>
        <p:nvSpPr>
          <p:cNvPr id="3" name="FloatNoteHubs">
            <a:extLst>
              <a:ext uri="{FF2B5EF4-FFF2-40B4-BE49-F238E27FC236}">
                <a16:creationId xmlns:a16="http://schemas.microsoft.com/office/drawing/2014/main" id="{7F891585-380E-A218-5D73-1997FE6BACF0}"/>
              </a:ext>
            </a:extLst>
          </p:cNvPr>
          <p:cNvSpPr txBox="1"/>
          <p:nvPr/>
        </p:nvSpPr>
        <p:spPr>
          <a:xfrm>
            <a:off x="762000" y="1651000"/>
            <a:ext cx="406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Regional hubs consolidate procurement</a:t>
            </a:r>
          </a:p>
          <a:p>
            <a:r>
              <a:rPr lang="en-US"/>
              <a:t>Shared services move to a single center</a:t>
            </a:r>
          </a:p>
        </p:txBody>
      </p:sp>
      <p:sp>
        <p:nvSpPr>
          <p:cNvPr id="4" name="FloatNotePods">
            <a:extLst>
              <a:ext uri="{FF2B5EF4-FFF2-40B4-BE49-F238E27FC236}">
                <a16:creationId xmlns:a16="http://schemas.microsoft.com/office/drawing/2014/main" id="{26E23278-A3AD-7799-EB4C-5DE43FB8D73B}"/>
              </a:ext>
            </a:extLst>
          </p:cNvPr>
          <p:cNvSpPr txBox="1"/>
          <p:nvPr/>
        </p:nvSpPr>
        <p:spPr>
          <a:xfrm>
            <a:off x="762000" y="3048000"/>
            <a:ext cx="406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Four delivery pods aligned to customer segments</a:t>
            </a:r>
          </a:p>
          <a:p>
            <a:r>
              <a:rPr lang="en-US"/>
              <a:t>Each pod owns its own quality gate</a:t>
            </a:r>
          </a:p>
        </p:txBody>
      </p:sp>
      <p:sp>
        <p:nvSpPr>
          <p:cNvPr id="5" name="FloatNoteCadence">
            <a:extLst>
              <a:ext uri="{FF2B5EF4-FFF2-40B4-BE49-F238E27FC236}">
                <a16:creationId xmlns:a16="http://schemas.microsoft.com/office/drawing/2014/main" id="{9259A80F-CAE8-88CD-E7B3-FCE90F87246F}"/>
              </a:ext>
            </a:extLst>
          </p:cNvPr>
          <p:cNvSpPr txBox="1"/>
          <p:nvPr/>
        </p:nvSpPr>
        <p:spPr>
          <a:xfrm>
            <a:off x="762000" y="4318000"/>
            <a:ext cx="406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Central functions provide shared tooling</a:t>
            </a:r>
          </a:p>
          <a:p>
            <a:r>
              <a:rPr lang="en-US"/>
              <a:t>Cadence reviews run on a six week cycle</a:t>
            </a:r>
          </a:p>
        </p:txBody>
      </p:sp>
      <p:sp>
        <p:nvSpPr>
          <p:cNvPr id="6" name="FloatCaptionSource">
            <a:extLst>
              <a:ext uri="{FF2B5EF4-FFF2-40B4-BE49-F238E27FC236}">
                <a16:creationId xmlns:a16="http://schemas.microsoft.com/office/drawing/2014/main" id="{E7AABC0A-8238-8A44-2347-00067422013B}"/>
              </a:ext>
            </a:extLst>
          </p:cNvPr>
          <p:cNvSpPr txBox="1"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Source: internal analysis, synthetic fixture data</a:t>
            </a:r>
          </a:p>
        </p:txBody>
      </p:sp>
      <p:sp>
        <p:nvSpPr>
          <p:cNvPr id="7" name="FloatPanelPlan">
            <a:extLst>
              <a:ext uri="{FF2B5EF4-FFF2-40B4-BE49-F238E27FC236}">
                <a16:creationId xmlns:a16="http://schemas.microsoft.com/office/drawing/2014/main" id="{D0138DCC-1BC0-3209-D6E0-DD1318361A61}"/>
              </a:ext>
            </a:extLst>
          </p:cNvPr>
          <p:cNvSpPr/>
          <p:nvPr/>
        </p:nvSpPr>
        <p:spPr>
          <a:xfrm>
            <a:off x="5969000" y="1778000"/>
            <a:ext cx="1651000" cy="1143000"/>
          </a:xfrm>
          <a:prstGeom prst="roundRect">
            <a:avLst>
              <a:gd name="adj" fmla="val 32000"/>
            </a:avLst>
          </a:prstGeom>
          <a:solidFill>
            <a:srgbClr val="E8F0E4"/>
          </a:solidFill>
          <a:ln w="28575">
            <a:solidFill>
              <a:srgbClr val="1F4E7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Plan</a:t>
            </a:r>
          </a:p>
        </p:txBody>
      </p:sp>
      <p:sp>
        <p:nvSpPr>
          <p:cNvPr id="8" name="FloatPanelBuild">
            <a:extLst>
              <a:ext uri="{FF2B5EF4-FFF2-40B4-BE49-F238E27FC236}">
                <a16:creationId xmlns:a16="http://schemas.microsoft.com/office/drawing/2014/main" id="{F083976D-3CB6-B394-B79D-0317A7B6688E}"/>
              </a:ext>
            </a:extLst>
          </p:cNvPr>
          <p:cNvSpPr/>
          <p:nvPr/>
        </p:nvSpPr>
        <p:spPr>
          <a:xfrm>
            <a:off x="8001000" y="1778000"/>
            <a:ext cx="1651000" cy="1143000"/>
          </a:xfrm>
          <a:prstGeom prst="rect">
            <a:avLst/>
          </a:prstGeom>
          <a:gradFill flip="none" rotWithShape="1">
            <a:gsLst>
              <a:gs pos="0">
                <a:srgbClr val="C0504D"/>
              </a:gs>
              <a:gs pos="100000">
                <a:srgbClr val="C0504D">
                  <a:tint val="80000"/>
                </a:srgbClr>
              </a:gs>
            </a:gsLst>
            <a:lin ang="5400000" scaled="1"/>
            <a:tileRect/>
          </a:gradFill>
          <a:ln w="19050">
            <a:solidFill>
              <a:srgbClr val="6B9F5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Build</a:t>
            </a:r>
          </a:p>
        </p:txBody>
      </p:sp>
      <p:sp>
        <p:nvSpPr>
          <p:cNvPr id="9" name="FloatPanelRun">
            <a:extLst>
              <a:ext uri="{FF2B5EF4-FFF2-40B4-BE49-F238E27FC236}">
                <a16:creationId xmlns:a16="http://schemas.microsoft.com/office/drawing/2014/main" id="{A7902C1F-56E6-6480-1CCB-0F7BC7DA3109}"/>
              </a:ext>
            </a:extLst>
          </p:cNvPr>
          <p:cNvSpPr/>
          <p:nvPr/>
        </p:nvSpPr>
        <p:spPr>
          <a:xfrm>
            <a:off x="10033000" y="1778000"/>
            <a:ext cx="1651000" cy="1143000"/>
          </a:xfrm>
          <a:prstGeom prst="ellipse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166682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2E"/>
      </a:dk1>
      <a:lt1>
        <a:srgbClr val="FDFBF7"/>
      </a:lt1>
      <a:dk2>
        <a:srgbClr val="1F4E79"/>
      </a:dk2>
      <a:lt2>
        <a:srgbClr val="E8E4D8"/>
      </a:lt2>
      <a:accent1>
        <a:srgbClr val="C0504D"/>
      </a:accent1>
      <a:accent2>
        <a:srgbClr val="6B9F59"/>
      </a:accent2>
      <a:accent3>
        <a:srgbClr val="7C5CA6"/>
      </a:accent3>
      <a:accent4>
        <a:srgbClr val="E2A33D"/>
      </a:accent4>
      <a:accent5>
        <a:srgbClr val="3E8FB0"/>
      </a:accent5>
      <a:accent6>
        <a:srgbClr val="A63D57"/>
      </a:accent6>
      <a:hlink>
        <a:srgbClr val="2E86AB"/>
      </a:hlink>
      <a:folHlink>
        <a:srgbClr val="8C5E93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Georgia</vt:lpstr>
      <vt:lpstr>Office Theme</vt:lpstr>
      <vt:lpstr>Acme Corp Market Overview</vt:lpstr>
      <vt:lpstr>Market overview</vt:lpstr>
      <vt:lpstr>Strategic priorities</vt:lpstr>
      <vt:lpstr>Operating model at a glance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2026-07-04T12:50:48Z</dcterms:created>
  <dcterms:modified xsi:type="dcterms:W3CDTF">2026-07-04T12:50:48Z</dcterms:modified>
</cp:coreProperties>
</file>