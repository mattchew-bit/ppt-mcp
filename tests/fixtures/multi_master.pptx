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66E0E-E5B7-DDA9-A391-1DA8E01196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2094A-7428-53C0-7DC4-9783D90CE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C7E3-8E25-FD15-8157-25F5481E4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489C5-7178-F692-CEDF-08155F7A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B6354-8978-34AC-5471-C5FF87A0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38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AE62-3160-9598-7DAF-76B65785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41A5-FAA7-14D6-612E-BACA0EA55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0E631-4BF6-CFC9-AED0-2C5163E4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B6F4F-1C82-C7C1-7E5D-2CC5B68F0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6DE98-9E89-DD76-6DCA-993DE9B5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7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844CE-330E-0F33-8A0F-45177FF0E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B0259-ADB5-A8B8-1F49-ED747E616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4CAC0-04F3-A05D-21BF-E2AF3F8C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67B9-6545-C15C-2753-2443A622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68142-CE39-1FAF-F330-CD8058E16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1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0900-D4E8-F004-036E-CDF1E6F5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C903D-45DE-E6BA-9F7A-BE4AC2B28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B3C297-D9C8-11BE-E9B7-BDD2AE2CD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E6ED1-B470-EAE7-3B39-B723F9F29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851D1-4AAC-494E-0D87-01F1CC90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0E855-471D-057E-9511-37D696544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4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F3F20-6BBF-6FD7-C2AB-FCE7D7DE7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D9C30-1154-135D-A40B-28B6C9416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2AC4BC-1B3C-4E43-453F-1334CA7E4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30FC2C-C75B-1757-F97D-B7482D9F57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B252C5-F7C6-BF18-0BD6-D25D44C53D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AA3A72-79B7-F911-AA88-FF86F83A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9BBA44-01B7-CED2-247F-64BBC9EBE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78E5F-D2BA-5F0C-056B-56E4359E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4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0AD3-4D3C-6EEC-B41F-5AA19D51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D27F5-A30C-6EFD-FA84-CD3E4109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D81ABE-60CA-9CEA-B2A8-0C09521B9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0A9E3-15C7-E809-782C-6092D593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38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51AFB5-A61E-0812-006C-9AA9069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11584-6E04-113C-30FC-28A26344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6BC7F-751F-30E6-021A-DB953C61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94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6DBD-347D-3F08-80C4-81A541AC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6C09C-5519-CB24-638D-920BBF339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33823-A652-F497-C5A1-4DE89C2C8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CC4F1-DAAA-7499-8247-E51C35A1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1F140-E3FA-58A2-A639-89A994C5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9F504-D908-86B0-65CC-9E38218E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79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905F-C9F3-FD54-F0D6-30F961414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7F122D-9BF5-66D3-2C59-8BE31AF227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6A2DE1-FE41-6722-6A19-3A5256BFB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EDA17-6290-490A-0EB2-6DDC1E46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BA2D10-5DD1-D127-64C7-2FC4D07C7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EEC5B-9F48-F612-EA58-E7E5C464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3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18D4-2B9E-FCC1-E37B-1E4533EC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A00AF-D6DF-4789-C864-0A22ABD87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F6C5B-4542-14E8-9D39-CFBB6F87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F6237-05FF-02DE-AD5B-E1EC3002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23735-2BD7-D309-6B9A-28A6A3E95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54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F4665-2881-212B-A14E-F4E252C18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3D92C-3A87-D67A-24A5-C238B70CA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3D4AD-375B-7CA0-3CA3-5848646B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7BD58-3536-271C-3CB4-D767B7D6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D3E13-59F9-983E-DB56-C5C3FE55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28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B855-7271-CA26-8D6A-71F8B3B22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E66E6-2EB8-561A-4629-70091B886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DB77B-1349-5411-FE3D-DBDC64C2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F7CBC-BDE2-7DB0-6EA3-7CF6A2D4A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82BF-B6A9-ED4D-D383-1793180C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6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4A50-22A2-0ACE-F633-DD293A241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8A1B1-4153-1739-A3C1-04747949F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8ABB-F71C-0DC7-6522-213690FB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2A6A8-4F87-343B-0870-C16359270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8D5B4-608C-CBBE-1415-4B6253E6B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03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04D7F-7FD4-1798-F57C-E6227C2A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2B901-8F6D-88ED-BA86-EB62A76A8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A11B6-3162-7F37-4FFA-A2BF1E50B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E985E-2700-BFB0-8863-309DBFC4C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A5A8-5839-D21C-2C9D-97BCB7C80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69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81F6B-5CC3-449D-9889-213AF27F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14016-73FE-C836-CF4C-005AB685D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2CFC-3EE7-CDD0-B362-84A0565F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CA588-118E-E6E0-B974-4EF13C5FE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BA7B2-0176-042B-5862-BDCAF4B31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41F6C-0D63-8BBB-FAA6-46DEFA8E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23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6B86-91B7-EB95-213E-D1D92D289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781E7-C696-AB73-6383-A1F567A2F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39209-031C-F12C-B3C2-A8685A262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7FCB2-C1E2-8037-1EBA-72771EA87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E7DFA-B4CB-02B0-C3FC-F9F1924FB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F2E781-A87C-9485-C53D-854BEF903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B22661-8D9B-332B-FA58-71EC91E43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8CDA06-5412-4E3C-362B-ECB3E98D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95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C60B-2D8F-4477-BD89-67ADDAAE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E0DF7-2521-7661-5519-17551442F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57B60-134E-405C-AC33-54EFFEBE8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BC9AB-02E0-00E5-DA9B-F65DACADC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48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5745B-87D4-BF7A-EB99-BCBF4ABEC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4F332-EC34-1DCA-F85C-989825B2D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62197-F02E-AC0A-AF43-E8367474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769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20B6-70D9-08D0-3700-14E5AB0E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E7486-0BD5-839C-BBBA-95D2A27A0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E25D2-0E89-41B9-F2C5-4BB7B7407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7BA99-32F0-DB0D-A677-5A3BE3C9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2F4E8D-C169-550D-A949-81F7D1C50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E3C3B-DFAF-7875-E3F5-3E865A55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455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6239-14B3-2C22-36B0-0F3E8DB32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63120-DDCD-2286-2886-9E6D2853C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BF06D-5D86-8FDC-6641-5425A6ADB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861E5-D456-C0F5-B91F-2C3732ED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642AE-F33B-CB8E-A606-6BB0EFE9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3AF3D-6DC1-CA36-EE19-44414361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287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B4EE-0C3B-5CE8-78BA-EE15A807A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69325-B602-9AA7-65DE-325223B3C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B5F92-4CBD-CEEF-E65C-97B69FFE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4F00-0032-381B-17E4-ABAF6551F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7536-2C41-958C-732C-2ED9B630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5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F8298-E926-B2A5-0B9A-03D70936BD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AFEF2-BD08-DB51-8620-5006EEF5F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284BA-6C47-350A-632D-A706CC584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BDB52-1C35-0F55-EAA9-091828418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219EB-99D1-8E0A-CC67-59193521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83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xtureB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688E20-2FD9-DECD-1B93-FBB6562E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D6E21-48A5-68BC-7A25-36379C569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F3E3B-D196-50F5-69EF-2D0AD34A8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22E65-3B31-4E3C-AB28-0A760D4FA3C2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A699B-5C6E-61A1-6FF0-B904A9A55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E13EA-0422-372D-4BA9-1F7E6B6AC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98735D-4B32-407E-A651-C7A946C0D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71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5000"/>
        </a:lnSpc>
        <a:spcBef>
          <a:spcPts val="500"/>
        </a:spcBef>
        <a:spcAft>
          <a:spcPts val="900"/>
        </a:spcAft>
        <a:buSzPct val="90000"/>
        <a:buFont typeface="Arial" panose="020B0604020202020204" pitchFamily="34" charset="0"/>
        <a:buChar char="–"/>
        <a:defRPr sz="19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400"/>
        </a:spcBef>
        <a:spcAft>
          <a:spcPts val="700"/>
        </a:spcAft>
        <a:buSzPct val="80000"/>
        <a:buFont typeface="Arial" panose="020B0604020202020204" pitchFamily="34" charset="0"/>
        <a:buChar char="■"/>
        <a:defRPr sz="1600" kern="1200">
          <a:solidFill>
            <a:srgbClr val="3F3F6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300"/>
        </a:spcBef>
        <a:spcAft>
          <a:spcPts val="500"/>
        </a:spcAft>
        <a:buSzPct val="100000"/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FixtureA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BC315D-70B8-868E-0F9C-0C73D7027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E36E4-BADA-5F73-D3D4-EDD490108B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861C-4143-74C8-7D2F-79F26F7677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4F062-DDD8-4E0C-9466-2DE96458F17D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8E2D1-477D-F36C-1420-148E7C838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C131-248B-A31E-66AC-0884332527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A3A4A-43FA-403E-90D0-BCAE94C51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0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i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600"/>
        </a:spcBef>
        <a:spcAft>
          <a:spcPts val="1100"/>
        </a:spcAft>
        <a:buSzPct val="85000"/>
        <a:buFont typeface="Arial" panose="020B0604020202020204" pitchFamily="34" charset="0"/>
        <a:buChar char="○"/>
        <a:defRPr sz="1700" kern="1200">
          <a:solidFill>
            <a:schemeClr val="dk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2000"/>
        </a:lnSpc>
        <a:spcBef>
          <a:spcPts val="400"/>
        </a:spcBef>
        <a:spcAft>
          <a:spcPts val="800"/>
        </a:spcAft>
        <a:buSzPct val="100000"/>
        <a:buFont typeface="Arial" panose="020B0604020202020204" pitchFamily="34" charset="0"/>
        <a:buChar char="–"/>
        <a:defRPr sz="1400" kern="1200">
          <a:solidFill>
            <a:srgbClr val="4E3B3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6000"/>
        </a:lnSpc>
        <a:spcBef>
          <a:spcPts val="200"/>
        </a:spcBef>
        <a:spcAft>
          <a:spcPts val="400"/>
        </a:spcAft>
        <a:buSzPct val="90000"/>
        <a:buFont typeface="Arial" panose="020B0604020202020204" pitchFamily="34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2DD4-92B5-CD63-E6D8-5D0F6B82D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Acme Corp portfolio day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E015B-AB84-DFF7-E9F2-59B4FBEB3F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Combined review across both operating groups</a:t>
            </a:r>
          </a:p>
        </p:txBody>
      </p:sp>
    </p:spTree>
    <p:extLst>
      <p:ext uri="{BB962C8B-B14F-4D97-AF65-F5344CB8AC3E}">
        <p14:creationId xmlns:p14="http://schemas.microsoft.com/office/powerpoint/2010/main" val="14495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00014-32CF-6058-8BB3-377FA8A23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Legacy division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00E56-0137-9588-D98E-F12E45391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Installed base renewals held at ninety percent</a:t>
            </a:r>
          </a:p>
          <a:p>
            <a:pPr lvl="1"/>
            <a:r>
              <a:rPr lang="en-US"/>
              <a:t>Churn concentrated in the smallest tier</a:t>
            </a:r>
          </a:p>
          <a:p>
            <a:r>
              <a:rPr lang="en-US"/>
              <a:t>Service margin improved on lower field costs</a:t>
            </a:r>
          </a:p>
          <a:p>
            <a:pPr lvl="1"/>
            <a:r>
              <a:rPr lang="en-US"/>
              <a:t>Remote resolution rate reached two thirds</a:t>
            </a:r>
          </a:p>
          <a:p>
            <a:pPr lvl="2"/>
            <a:r>
              <a:rPr lang="en-US"/>
              <a:t>Parts logistics outsourced in two regions</a:t>
            </a:r>
          </a:p>
          <a:p>
            <a:r>
              <a:rPr lang="en-US"/>
              <a:t>Sunset roadmap communicated to all accounts</a:t>
            </a:r>
          </a:p>
        </p:txBody>
      </p:sp>
    </p:spTree>
    <p:extLst>
      <p:ext uri="{BB962C8B-B14F-4D97-AF65-F5344CB8AC3E}">
        <p14:creationId xmlns:p14="http://schemas.microsoft.com/office/powerpoint/2010/main" val="117925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1B9B-9037-5706-6FC1-81119FB2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Growth division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39B1D-0E71-0614-DF66-B686BF329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New platform bookings doubled year over year</a:t>
            </a:r>
          </a:p>
          <a:p>
            <a:pPr lvl="1"/>
            <a:r>
              <a:rPr lang="en-US"/>
              <a:t>Land and expand motion now standard</a:t>
            </a:r>
          </a:p>
          <a:p>
            <a:pPr lvl="2"/>
            <a:r>
              <a:rPr lang="en-US"/>
              <a:t>Average expansion closes within two quarters</a:t>
            </a:r>
          </a:p>
          <a:p>
            <a:r>
              <a:rPr lang="en-US"/>
              <a:t>Partner sourced pipeline reached one third</a:t>
            </a:r>
          </a:p>
          <a:p>
            <a:pPr lvl="1"/>
            <a:r>
              <a:rPr lang="en-US"/>
              <a:t>Two alliances promoted to strategic tier</a:t>
            </a:r>
          </a:p>
          <a:p>
            <a:r>
              <a:rPr lang="en-US"/>
              <a:t>Attrition held below the sector benchmark</a:t>
            </a:r>
          </a:p>
        </p:txBody>
      </p:sp>
    </p:spTree>
    <p:extLst>
      <p:ext uri="{BB962C8B-B14F-4D97-AF65-F5344CB8AC3E}">
        <p14:creationId xmlns:p14="http://schemas.microsoft.com/office/powerpoint/2010/main" val="84667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E1302-7AD2-A985-AC3F-6BADE9F4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Integration checkpoints</a:t>
            </a:r>
          </a:p>
        </p:txBody>
      </p:sp>
      <p:sp>
        <p:nvSpPr>
          <p:cNvPr id="3" name="FloatNoteCutover">
            <a:extLst>
              <a:ext uri="{FF2B5EF4-FFF2-40B4-BE49-F238E27FC236}">
                <a16:creationId xmlns:a16="http://schemas.microsoft.com/office/drawing/2014/main" id="{C762EAE2-A1A9-A275-BBED-6CDEDDAA20FE}"/>
              </a:ext>
            </a:extLst>
          </p:cNvPr>
          <p:cNvSpPr txBox="1"/>
          <p:nvPr/>
        </p:nvSpPr>
        <p:spPr>
          <a:xfrm>
            <a:off x="762000" y="1778000"/>
            <a:ext cx="4191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Shared back office cutover in the autumn</a:t>
            </a:r>
          </a:p>
          <a:p>
            <a:r>
              <a:rPr lang="en-US"/>
              <a:t>Systems freeze holds for six weeks</a:t>
            </a:r>
          </a:p>
        </p:txBody>
      </p:sp>
      <p:sp>
        <p:nvSpPr>
          <p:cNvPr id="4" name="FloatNoteSynergy">
            <a:extLst>
              <a:ext uri="{FF2B5EF4-FFF2-40B4-BE49-F238E27FC236}">
                <a16:creationId xmlns:a16="http://schemas.microsoft.com/office/drawing/2014/main" id="{EE526272-B02D-F687-F333-15E67AA7D585}"/>
              </a:ext>
            </a:extLst>
          </p:cNvPr>
          <p:cNvSpPr txBox="1"/>
          <p:nvPr/>
        </p:nvSpPr>
        <p:spPr>
          <a:xfrm>
            <a:off x="762000" y="3175000"/>
            <a:ext cx="4191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Synergy tracking moves to monthly cadence</a:t>
            </a:r>
          </a:p>
        </p:txBody>
      </p:sp>
      <p:sp>
        <p:nvSpPr>
          <p:cNvPr id="5" name="FloatCaptionSource">
            <a:extLst>
              <a:ext uri="{FF2B5EF4-FFF2-40B4-BE49-F238E27FC236}">
                <a16:creationId xmlns:a16="http://schemas.microsoft.com/office/drawing/2014/main" id="{E68826F0-BB52-C19D-1AED-8FE229ECBE52}"/>
              </a:ext>
            </a:extLst>
          </p:cNvPr>
          <p:cNvSpPr txBox="1"/>
          <p:nvPr/>
        </p:nvSpPr>
        <p:spPr>
          <a:xfrm>
            <a:off x="762000" y="5969000"/>
            <a:ext cx="533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Source: integration office, synthetic fixture data</a:t>
            </a:r>
          </a:p>
        </p:txBody>
      </p:sp>
      <p:sp>
        <p:nvSpPr>
          <p:cNvPr id="6" name="FloatShapeDay100">
            <a:extLst>
              <a:ext uri="{FF2B5EF4-FFF2-40B4-BE49-F238E27FC236}">
                <a16:creationId xmlns:a16="http://schemas.microsoft.com/office/drawing/2014/main" id="{B1E595D0-CCDA-1B9B-64FD-87C322767050}"/>
              </a:ext>
            </a:extLst>
          </p:cNvPr>
          <p:cNvSpPr/>
          <p:nvPr/>
        </p:nvSpPr>
        <p:spPr>
          <a:xfrm>
            <a:off x="5969000" y="1905000"/>
            <a:ext cx="1905000" cy="1143000"/>
          </a:xfrm>
          <a:prstGeom prst="roundRect">
            <a:avLst>
              <a:gd name="adj" fmla="val 35000"/>
            </a:avLst>
          </a:prstGeom>
          <a:solidFill>
            <a:srgbClr val="E4EFE9"/>
          </a:solidFill>
          <a:ln w="28575">
            <a:solidFill>
              <a:srgbClr val="4A1942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Day 100</a:t>
            </a:r>
          </a:p>
        </p:txBody>
      </p:sp>
      <p:sp>
        <p:nvSpPr>
          <p:cNvPr id="7" name="FloatShapeTarget">
            <a:extLst>
              <a:ext uri="{FF2B5EF4-FFF2-40B4-BE49-F238E27FC236}">
                <a16:creationId xmlns:a16="http://schemas.microsoft.com/office/drawing/2014/main" id="{743DEC65-461C-1678-8A20-35710F2A637E}"/>
              </a:ext>
            </a:extLst>
          </p:cNvPr>
          <p:cNvSpPr/>
          <p:nvPr/>
        </p:nvSpPr>
        <p:spPr>
          <a:xfrm>
            <a:off x="8255000" y="1905000"/>
            <a:ext cx="1905000" cy="1143000"/>
          </a:xfrm>
          <a:prstGeom prst="ellipse">
            <a:avLst/>
          </a:prstGeom>
          <a:solidFill>
            <a:schemeClr val="accent2"/>
          </a:solidFill>
          <a:ln w="15875">
            <a:solidFill>
              <a:srgbClr val="C98A1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Target</a:t>
            </a:r>
          </a:p>
        </p:txBody>
      </p:sp>
      <p:sp>
        <p:nvSpPr>
          <p:cNvPr id="8" name="FloatShapeBanner">
            <a:extLst>
              <a:ext uri="{FF2B5EF4-FFF2-40B4-BE49-F238E27FC236}">
                <a16:creationId xmlns:a16="http://schemas.microsoft.com/office/drawing/2014/main" id="{F09C2535-C548-C2D5-6882-F2CA48104DE3}"/>
              </a:ext>
            </a:extLst>
          </p:cNvPr>
          <p:cNvSpPr/>
          <p:nvPr/>
        </p:nvSpPr>
        <p:spPr>
          <a:xfrm>
            <a:off x="5969000" y="3429000"/>
            <a:ext cx="4191000" cy="762000"/>
          </a:xfrm>
          <a:prstGeom prst="roundRect">
            <a:avLst>
              <a:gd name="adj" fmla="val 18000"/>
            </a:avLst>
          </a:prstGeom>
          <a:solidFill>
            <a:srgbClr val="5E4B8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One operating model by year end</a:t>
            </a:r>
          </a:p>
        </p:txBody>
      </p:sp>
    </p:spTree>
    <p:extLst>
      <p:ext uri="{BB962C8B-B14F-4D97-AF65-F5344CB8AC3E}">
        <p14:creationId xmlns:p14="http://schemas.microsoft.com/office/powerpoint/2010/main" val="2064734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EB30-5878-2E02-99B8-EBCAA09AF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Combined 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9575-47B5-0E28-ED9F-B1CC988A8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Guidance raised on stronger second half</a:t>
            </a:r>
          </a:p>
          <a:p>
            <a:pPr lvl="1"/>
            <a:r>
              <a:rPr lang="en-US"/>
              <a:t>Currency assumptions unchanged</a:t>
            </a:r>
          </a:p>
          <a:p>
            <a:r>
              <a:rPr lang="en-US"/>
              <a:t>Capital allocation favors the growth division</a:t>
            </a:r>
          </a:p>
          <a:p>
            <a:pPr lvl="1"/>
            <a:r>
              <a:rPr lang="en-US"/>
              <a:t>Dividend policy reviewed at year end</a:t>
            </a:r>
          </a:p>
          <a:p>
            <a:r>
              <a:rPr lang="en-US"/>
              <a:t>Integration costs tracked within envelope</a:t>
            </a:r>
          </a:p>
          <a:p>
            <a:pPr lvl="1"/>
            <a:r>
              <a:rPr lang="en-US"/>
              <a:t>Synergy target raised after the first wave</a:t>
            </a:r>
          </a:p>
        </p:txBody>
      </p:sp>
    </p:spTree>
    <p:extLst>
      <p:ext uri="{BB962C8B-B14F-4D97-AF65-F5344CB8AC3E}">
        <p14:creationId xmlns:p14="http://schemas.microsoft.com/office/powerpoint/2010/main" val="3011550464"/>
      </p:ext>
    </p:extLst>
  </p:cSld>
  <p:clrMapOvr>
    <a:masterClrMapping/>
  </p:clrMapOvr>
</p:sld>
</file>

<file path=ppt/theme/theme1.xml><?xml version="1.0" encoding="utf-8"?>
<a:theme xmlns:a="http://schemas.openxmlformats.org/drawingml/2006/main" name="FixtureBase">
  <a:themeElements>
    <a:clrScheme name="Office">
      <a:dk1>
        <a:srgbClr val="1A1A2E"/>
      </a:dk1>
      <a:lt1>
        <a:srgbClr val="FDFBF7"/>
      </a:lt1>
      <a:dk2>
        <a:srgbClr val="1F4E79"/>
      </a:dk2>
      <a:lt2>
        <a:srgbClr val="E8E4D8"/>
      </a:lt2>
      <a:accent1>
        <a:srgbClr val="C0504D"/>
      </a:accent1>
      <a:accent2>
        <a:srgbClr val="6B9F59"/>
      </a:accent2>
      <a:accent3>
        <a:srgbClr val="7C5CA6"/>
      </a:accent3>
      <a:accent4>
        <a:srgbClr val="E2A33D"/>
      </a:accent4>
      <a:accent5>
        <a:srgbClr val="3E8FB0"/>
      </a:accent5>
      <a:accent6>
        <a:srgbClr val="A63D57"/>
      </a:accent6>
      <a:hlink>
        <a:srgbClr val="2E86AB"/>
      </a:hlink>
      <a:folHlink>
        <a:srgbClr val="8C5E93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FixtureAlt">
  <a:themeElements>
    <a:clrScheme name="Office">
      <a:dk1>
        <a:srgbClr val="20232A"/>
      </a:dk1>
      <a:lt1>
        <a:srgbClr val="FBF7F0"/>
      </a:lt1>
      <a:dk2>
        <a:srgbClr val="4A1942"/>
      </a:dk2>
      <a:lt2>
        <a:srgbClr val="DCD6CC"/>
      </a:lt2>
      <a:accent1>
        <a:srgbClr val="0B6E4F"/>
      </a:accent1>
      <a:accent2>
        <a:srgbClr val="9A2B2B"/>
      </a:accent2>
      <a:accent3>
        <a:srgbClr val="2F5D8A"/>
      </a:accent3>
      <a:accent4>
        <a:srgbClr val="C98A12"/>
      </a:accent4>
      <a:accent5>
        <a:srgbClr val="5E4B8B"/>
      </a:accent5>
      <a:accent6>
        <a:srgbClr val="3B7A57"/>
      </a:accent6>
      <a:hlink>
        <a:srgbClr val="0B6E4F"/>
      </a:hlink>
      <a:folHlink>
        <a:srgbClr val="5E4B8B"/>
      </a:folHlink>
    </a:clrScheme>
    <a:fontScheme name="Office">
      <a:majorFont>
        <a:latin typeface="Times New Roman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Georgia</vt:lpstr>
      <vt:lpstr>Times New Roman</vt:lpstr>
      <vt:lpstr>FixtureBase</vt:lpstr>
      <vt:lpstr>FixtureAlt</vt:lpstr>
      <vt:lpstr>Acme Corp portfolio day</vt:lpstr>
      <vt:lpstr>Legacy division results</vt:lpstr>
      <vt:lpstr>Growth division results</vt:lpstr>
      <vt:lpstr>Integration checkpoints</vt:lpstr>
      <vt:lpstr>Combined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2026-07-04T12:50:52Z</dcterms:created>
  <dcterms:modified xsi:type="dcterms:W3CDTF">2026-07-04T12:50:52Z</dcterms:modified>
</cp:coreProperties>
</file>