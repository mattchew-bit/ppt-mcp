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F218-1149-231D-06A1-CC3EC9FD1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C2BC7-1264-AED0-291D-760AB14AF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E5C58-5FF3-1B67-BB04-B5510A16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98DB1-D5AD-6796-F4D1-6FEF493A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B2E45-3708-E1AA-165B-DFE6E891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6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4FDD-1B33-DF22-18DA-9BA8C982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5F13-56D4-7E66-AEB7-32E62101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0FDEF-249B-D853-8BC2-BEFE091F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BFBCA-019D-7732-2BA7-B57B2CF7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40369-1407-5A2D-49A8-ED7E4FF1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16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0438-1EE6-CCC2-C51B-78C51837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9F67B-2BE4-6852-EB24-5A20E6428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60195-5913-A5AE-7A64-37583D69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C89B4-91BA-8E2F-7C8D-717C7168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AD56-F4CB-0A21-F6EA-EEDB9B03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8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1E07-CB7F-2B7E-D51B-79B6CBD0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BEE7E-BCFE-372F-389D-D84FFF42F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C716B-83C5-1370-9864-A8E8AB7A2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26D40-F1C9-9C44-F1AB-19790CD88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FB196-AF48-3E1A-EF40-8CDE2AA6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AE56A-A8C3-B477-765E-84A4BA62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7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528C-3387-97B8-9EDD-2F3C110A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27C60-B405-90F1-0116-F5295885B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98E4D-8291-A01C-FDFE-3F2E26E66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BF316-4E72-4775-E31B-A79D6555A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FD518C-756D-FE74-37CD-1BD7FBD73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57454-9BE4-11EA-C88A-973BBEE0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421DC-17E5-39AA-E1F8-BF593D95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685B8-7B1F-ED44-B4CE-F569E69D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43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8B44-3BD6-31CF-4D46-D3C5C337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3844A-040F-5659-62F8-03108857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62CCD-DC08-9CE5-6228-AD555B2B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77D8F-F932-5F8D-E9F4-5A05332B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C10F8-F00D-BDEC-466F-1EDCC6E93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AD933-F811-C29B-96DF-DDDB895D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9EB93-6317-74AB-88CB-507CBF81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2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F478-0766-082A-65D0-BF48F79F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DCFDB-ABE4-6701-A3AF-835C095F3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F59B8-6869-5723-6C38-8818F7027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ED2A-1525-877C-F101-65F3CC92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DF630-C7C2-1572-E760-16B47ADF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69040-B8DF-A3AD-5BFB-CBE05BAD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2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3D7C-6A0F-486B-5669-D06BACB8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2C7E3-3FD9-2123-2D38-47FB1585E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CFFED-BA90-F5E5-4964-8F4E2FCFA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724CC-B74B-C3B3-A764-6D78866FE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9A639-74A5-54EF-B3FA-22BB50BE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B1FEB-3A5A-8236-A962-1F1462AB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0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7BC3-C755-7A74-BEA5-0AEC192B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E6498-93E9-A67D-CE53-2876C8F34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F68D6-4D66-E7FD-8346-DE2D83B2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0EF09-1C29-AA6D-CDD2-AD945921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8C5E1-3427-DAC5-BFB5-947364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0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0E4AE-7300-46A0-F2E7-8170F22B7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E0A5F-1F2C-45D3-17E8-92E69799D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D312B-2D68-3D4E-C072-ADACD44E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79989-5907-6334-103E-9F077B89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36F7B-C755-946B-CC79-A44065D5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1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B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50B3E-294B-D2B6-519D-59123151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969BE-6176-626E-FB46-2A969243A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B17A2-6EC6-AA3A-DB60-B4E741E86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E67AF-02E1-43A7-A30C-B356C2AFF82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E393-D037-C920-1691-7E63B2163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C4BE8-2896-D316-A1AB-DC3B6B017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B7317-EC43-436B-9714-DCA7FEEA9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02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5000"/>
        </a:lnSpc>
        <a:spcBef>
          <a:spcPts val="500"/>
        </a:spcBef>
        <a:spcAft>
          <a:spcPts val="900"/>
        </a:spcAft>
        <a:buSzPct val="90000"/>
        <a:buFont typeface="Arial" panose="020B0604020202020204" pitchFamily="34" charset="0"/>
        <a:buChar char="–"/>
        <a:defRPr sz="19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700"/>
        </a:spcAft>
        <a:buSzPct val="80000"/>
        <a:buFont typeface="Arial" panose="020B0604020202020204" pitchFamily="34" charset="0"/>
        <a:buChar char="■"/>
        <a:defRPr sz="1600" kern="1200">
          <a:solidFill>
            <a:srgbClr val="3F3F6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SzPct val="100000"/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4D96-C56E-21C0-9A5A-132DBEC1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solidFill>
                  <a:srgbClr val="1F4E79"/>
                </a:solidFill>
              </a:rPr>
              <a:t>Transformation</a:t>
            </a:r>
            <a:r>
              <a:rPr lang="en-US"/>
              <a:t> </a:t>
            </a:r>
            <a:r>
              <a:rPr lang="en-US" i="1">
                <a:solidFill>
                  <a:srgbClr val="E2A33D"/>
                </a:solidFill>
              </a:rPr>
              <a:t>program</a:t>
            </a:r>
            <a:r>
              <a:rPr lang="en-US"/>
              <a:t>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3A294-2022-3BB1-F247-888D12F9D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Baseline scope confirmed with all sponsors</a:t>
            </a:r>
          </a:p>
          <a:p>
            <a:r>
              <a:rPr lang="en-US" sz="2300" b="1"/>
              <a:t>Wave one delivery is trending ahead of plan</a:t>
            </a:r>
          </a:p>
          <a:p>
            <a:pPr lvl="1"/>
            <a:r>
              <a:rPr lang="en-US">
                <a:solidFill>
                  <a:srgbClr val="FF6B35"/>
                </a:solidFill>
              </a:rPr>
              <a:t>Benefits case revalidated by finance</a:t>
            </a:r>
          </a:p>
          <a:p>
            <a:pPr algn="ctr">
              <a:spcBef>
                <a:spcPts val="1200"/>
              </a:spcBef>
              <a:spcAft>
                <a:spcPts val="1500"/>
              </a:spcAft>
            </a:pPr>
            <a:r>
              <a:rPr lang="en-US"/>
              <a:t>Decision needed on the second wave start</a:t>
            </a:r>
          </a:p>
          <a:p>
            <a:pPr>
              <a:buClr>
                <a:srgbClr val="6B9F59"/>
              </a:buClr>
              <a:buSzPct val="100000"/>
              <a:buFont typeface="Arial" panose="020B0604020202020204" pitchFamily="34" charset="0"/>
              <a:buChar char="✓"/>
            </a:pPr>
            <a:r>
              <a:rPr lang="en-US"/>
              <a:t>Completed workstreams archived this month</a:t>
            </a:r>
          </a:p>
          <a:p>
            <a:pPr marL="0" indent="0">
              <a:buNone/>
            </a:pPr>
            <a:r>
              <a:rPr lang="en-US"/>
              <a:t>Risks and issues log reset for wave two</a:t>
            </a:r>
          </a:p>
          <a:p>
            <a:r>
              <a:rPr lang="en-US"/>
              <a:t>Change network extended to every site</a:t>
            </a:r>
          </a:p>
          <a:p>
            <a:pPr lvl="1"/>
            <a:r>
              <a:rPr lang="en-US"/>
              <a:t>Local champions nominated by month end</a:t>
            </a:r>
          </a:p>
        </p:txBody>
      </p:sp>
    </p:spTree>
    <p:extLst>
      <p:ext uri="{BB962C8B-B14F-4D97-AF65-F5344CB8AC3E}">
        <p14:creationId xmlns:p14="http://schemas.microsoft.com/office/powerpoint/2010/main" val="243267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701C-1647-CE7F-211D-A2A895A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Vendor consolidation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A904-C1BD-6EA1-A0EC-14F3CD934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b="1">
                <a:latin typeface="Georgia" panose="02040502050405020303" pitchFamily="18" charset="0"/>
              </a:rPr>
              <a:t>Vendor consolidation</a:t>
            </a:r>
            <a:r>
              <a:rPr lang="en-US"/>
              <a:t> reduces </a:t>
            </a:r>
            <a:r>
              <a:rPr lang="en-US" sz="1500" i="1">
                <a:solidFill>
                  <a:srgbClr val="7C5CA6"/>
                </a:solidFill>
                <a:latin typeface="Times New Roman" panose="02020603050405020304" pitchFamily="18" charset="0"/>
              </a:rPr>
              <a:t>overhead</a:t>
            </a:r>
            <a:r>
              <a:rPr lang="en-US"/>
              <a:t> across regions</a:t>
            </a:r>
          </a:p>
          <a:p>
            <a:pPr lvl="1"/>
            <a:r>
              <a:rPr lang="en-US"/>
              <a:t>Preferred supplier list trimmed to eight names</a:t>
            </a:r>
          </a:p>
          <a:p>
            <a:pPr lvl="1"/>
            <a:r>
              <a:rPr lang="en-US"/>
              <a:t>Standard terms applied to every renewal</a:t>
            </a:r>
          </a:p>
          <a:p>
            <a:r>
              <a:rPr lang="en-US"/>
              <a:t>Savings redirected into the delivery pods</a:t>
            </a:r>
          </a:p>
        </p:txBody>
      </p:sp>
    </p:spTree>
    <p:extLst>
      <p:ext uri="{BB962C8B-B14F-4D97-AF65-F5344CB8AC3E}">
        <p14:creationId xmlns:p14="http://schemas.microsoft.com/office/powerpoint/2010/main" val="58946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588A-3D5E-25B9-6459-DC923129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 </a:t>
            </a:r>
            <a:r>
              <a:rPr lang="en-US" i="1">
                <a:solidFill>
                  <a:srgbClr val="A63D57"/>
                </a:solidFill>
              </a:rPr>
              <a:t>two</a:t>
            </a:r>
            <a:r>
              <a:rPr lang="en-US"/>
              <a:t> priorities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6DC79-3C29-C1EF-769A-ABC1C178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750" i="1">
                <a:solidFill>
                  <a:srgbClr val="3F3F66"/>
                </a:solidFill>
              </a:rPr>
              <a:t>Scale what worked, retire what did not</a:t>
            </a:r>
          </a:p>
        </p:txBody>
      </p:sp>
    </p:spTree>
    <p:extLst>
      <p:ext uri="{BB962C8B-B14F-4D97-AF65-F5344CB8AC3E}">
        <p14:creationId xmlns:p14="http://schemas.microsoft.com/office/powerpoint/2010/main" val="197555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7D82-DDB8-B363-738F-DDE6DC3F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summary</a:t>
            </a:r>
          </a:p>
        </p:txBody>
      </p:sp>
      <p:sp>
        <p:nvSpPr>
          <p:cNvPr id="3" name="FloatNoteDecision">
            <a:extLst>
              <a:ext uri="{FF2B5EF4-FFF2-40B4-BE49-F238E27FC236}">
                <a16:creationId xmlns:a16="http://schemas.microsoft.com/office/drawing/2014/main" id="{972F4042-1D74-6C6D-EB97-3CAB53D49DDC}"/>
              </a:ext>
            </a:extLst>
          </p:cNvPr>
          <p:cNvSpPr txBox="1"/>
          <p:nvPr/>
        </p:nvSpPr>
        <p:spPr>
          <a:xfrm>
            <a:off x="762000" y="1778000"/>
            <a:ext cx="4318000" cy="100027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b="1" i="1">
                <a:solidFill>
                  <a:srgbClr val="4A1942"/>
                </a:solidFill>
                <a:latin typeface="Times New Roman" panose="02020603050405020304" pitchFamily="18" charset="0"/>
              </a:rPr>
              <a:t>Steering committee approved the revised case</a:t>
            </a:r>
          </a:p>
          <a:p>
            <a:pPr>
              <a:spcBef>
                <a:spcPts val="600"/>
              </a:spcBef>
            </a:pPr>
            <a:r>
              <a:rPr lang="en-US" sz="1200">
                <a:solidFill>
                  <a:srgbClr val="6B9F59"/>
                </a:solidFill>
                <a:latin typeface="Arial" panose="020B0604020202020204" pitchFamily="34" charset="0"/>
              </a:rPr>
              <a:t>Funding released for the next two quarters</a:t>
            </a:r>
          </a:p>
        </p:txBody>
      </p:sp>
      <p:sp>
        <p:nvSpPr>
          <p:cNvPr id="4" name="FloatNoteConditions">
            <a:extLst>
              <a:ext uri="{FF2B5EF4-FFF2-40B4-BE49-F238E27FC236}">
                <a16:creationId xmlns:a16="http://schemas.microsoft.com/office/drawing/2014/main" id="{261C190A-081C-C39C-75DB-9D1475DB0340}"/>
              </a:ext>
            </a:extLst>
          </p:cNvPr>
          <p:cNvSpPr txBox="1"/>
          <p:nvPr/>
        </p:nvSpPr>
        <p:spPr>
          <a:xfrm>
            <a:off x="762000" y="3302000"/>
            <a:ext cx="4318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i="1">
                <a:solidFill>
                  <a:srgbClr val="1F4E79"/>
                </a:solidFill>
                <a:latin typeface="Georgia" panose="02040502050405020303" pitchFamily="18" charset="0"/>
              </a:rPr>
              <a:t>Conditions attached to the approval</a:t>
            </a:r>
          </a:p>
          <a:p>
            <a:r>
              <a:rPr lang="en-US"/>
              <a:t>Benefits tracking reports monthly</a:t>
            </a:r>
          </a:p>
        </p:txBody>
      </p:sp>
      <p:sp>
        <p:nvSpPr>
          <p:cNvPr id="5" name="FloatCaptionRecord">
            <a:extLst>
              <a:ext uri="{FF2B5EF4-FFF2-40B4-BE49-F238E27FC236}">
                <a16:creationId xmlns:a16="http://schemas.microsoft.com/office/drawing/2014/main" id="{7A974D52-6473-9AEA-7D47-DAF2772120F2}"/>
              </a:ext>
            </a:extLst>
          </p:cNvPr>
          <p:cNvSpPr txBox="1"/>
          <p:nvPr/>
        </p:nvSpPr>
        <p:spPr>
          <a:xfrm>
            <a:off x="762000" y="5969000"/>
            <a:ext cx="5080000" cy="3154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450">
                <a:solidFill>
                  <a:srgbClr val="8C5E93"/>
                </a:solidFill>
              </a:rPr>
              <a:t>Recorded at the June steering committee</a:t>
            </a:r>
          </a:p>
        </p:txBody>
      </p:sp>
      <p:sp>
        <p:nvSpPr>
          <p:cNvPr id="6" name="FloatShapeApprove">
            <a:extLst>
              <a:ext uri="{FF2B5EF4-FFF2-40B4-BE49-F238E27FC236}">
                <a16:creationId xmlns:a16="http://schemas.microsoft.com/office/drawing/2014/main" id="{1F70CA42-648E-15D1-3360-02B90F597A6F}"/>
              </a:ext>
            </a:extLst>
          </p:cNvPr>
          <p:cNvSpPr/>
          <p:nvPr/>
        </p:nvSpPr>
        <p:spPr>
          <a:xfrm>
            <a:off x="5969000" y="1905000"/>
            <a:ext cx="1778000" cy="1143000"/>
          </a:xfrm>
          <a:prstGeom prst="roundRect">
            <a:avLst>
              <a:gd name="adj" fmla="val 40000"/>
            </a:avLst>
          </a:prstGeom>
          <a:solidFill>
            <a:srgbClr val="DDEBF7"/>
          </a:solidFill>
          <a:ln w="38100">
            <a:solidFill>
              <a:srgbClr val="C0504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1F4E79"/>
                </a:solidFill>
              </a:rPr>
              <a:t>Approve</a:t>
            </a:r>
          </a:p>
        </p:txBody>
      </p:sp>
      <p:sp>
        <p:nvSpPr>
          <p:cNvPr id="7" name="FloatShapeReview">
            <a:extLst>
              <a:ext uri="{FF2B5EF4-FFF2-40B4-BE49-F238E27FC236}">
                <a16:creationId xmlns:a16="http://schemas.microsoft.com/office/drawing/2014/main" id="{9B298055-818D-7E94-1E9D-6E3EE27ED285}"/>
              </a:ext>
            </a:extLst>
          </p:cNvPr>
          <p:cNvSpPr/>
          <p:nvPr/>
        </p:nvSpPr>
        <p:spPr>
          <a:xfrm>
            <a:off x="8001000" y="1905000"/>
            <a:ext cx="1778000" cy="1143000"/>
          </a:xfrm>
          <a:prstGeom prst="rect">
            <a:avLst/>
          </a:prstGeom>
          <a:gradFill flip="none" rotWithShape="1">
            <a:gsLst>
              <a:gs pos="0">
                <a:srgbClr val="3E8FB0"/>
              </a:gs>
              <a:gs pos="100000">
                <a:srgbClr val="3E8FB0">
                  <a:tint val="90000"/>
                </a:srgbClr>
              </a:gs>
            </a:gsLst>
            <a:lin ang="5400000" scaled="1"/>
            <a:tileRect/>
          </a:gradFill>
          <a:ln w="28575">
            <a:solidFill>
              <a:srgbClr val="1F4E7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Review</a:t>
            </a:r>
          </a:p>
        </p:txBody>
      </p:sp>
      <p:sp>
        <p:nvSpPr>
          <p:cNvPr id="8" name="FloatShapeDeploy">
            <a:extLst>
              <a:ext uri="{FF2B5EF4-FFF2-40B4-BE49-F238E27FC236}">
                <a16:creationId xmlns:a16="http://schemas.microsoft.com/office/drawing/2014/main" id="{2347ADE2-A2D0-F06C-B9BE-A5E4CC412160}"/>
              </a:ext>
            </a:extLst>
          </p:cNvPr>
          <p:cNvSpPr/>
          <p:nvPr/>
        </p:nvSpPr>
        <p:spPr>
          <a:xfrm>
            <a:off x="10033000" y="1905000"/>
            <a:ext cx="1778000" cy="1143000"/>
          </a:xfrm>
          <a:prstGeom prst="ellipse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DFBF7"/>
                </a:solidFill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4046555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2E"/>
      </a:dk1>
      <a:lt1>
        <a:srgbClr val="FDFBF7"/>
      </a:lt1>
      <a:dk2>
        <a:srgbClr val="1F4E79"/>
      </a:dk2>
      <a:lt2>
        <a:srgbClr val="E8E4D8"/>
      </a:lt2>
      <a:accent1>
        <a:srgbClr val="C0504D"/>
      </a:accent1>
      <a:accent2>
        <a:srgbClr val="6B9F59"/>
      </a:accent2>
      <a:accent3>
        <a:srgbClr val="7C5CA6"/>
      </a:accent3>
      <a:accent4>
        <a:srgbClr val="E2A33D"/>
      </a:accent4>
      <a:accent5>
        <a:srgbClr val="3E8FB0"/>
      </a:accent5>
      <a:accent6>
        <a:srgbClr val="A63D57"/>
      </a:accent6>
      <a:hlink>
        <a:srgbClr val="2E86AB"/>
      </a:hlink>
      <a:folHlink>
        <a:srgbClr val="8C5E93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Georgia</vt:lpstr>
      <vt:lpstr>Times New Roman</vt:lpstr>
      <vt:lpstr>Office Theme</vt:lpstr>
      <vt:lpstr>Transformation program update</vt:lpstr>
      <vt:lpstr>Vendor consolidation detail</vt:lpstr>
      <vt:lpstr>Wave two priorities</vt:lpstr>
      <vt:lpstr>Decision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2026-07-04T12:50:51Z</dcterms:created>
  <dcterms:modified xsi:type="dcterms:W3CDTF">2026-07-04T12:50:51Z</dcterms:modified>
</cp:coreProperties>
</file>