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6EC38-B239-ED78-6248-194DEC489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4DB18-6194-255C-B242-08AE5BB2A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52DAB-E50A-49AD-9065-0A2AD2B32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E1F6-217D-454A-90AA-670B1CE268C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3B588-3759-3FC3-49BA-0666AA362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D00F2-3102-03F3-39A2-CA6F1EFA4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641-1AD9-4246-B663-9C7FEC641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A15F6-3A7B-402D-6C0E-BFAB988F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2EF76-7899-52F3-8F50-9942EC48D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9807E-E012-1D6D-0619-7BC8880C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E1F6-217D-454A-90AA-670B1CE268C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ECC56-A268-142E-07DB-D904CA4B0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35F82-A819-A56C-CDD0-EE9131A14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641-1AD9-4246-B663-9C7FEC641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59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278AA-10BD-3B0D-2B30-259229CE2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4278C-50D1-E89A-B5DF-C101F9517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C5F1A-D0AD-85B2-0C98-3BFD80F32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E1F6-217D-454A-90AA-670B1CE268C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81A97-31F4-5875-ED92-14F1A42F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CEDDA-31C8-C80D-5F67-209877DF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641-1AD9-4246-B663-9C7FEC641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4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6D8E-CEA3-9C2A-5579-D56C29E42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258DF-4DAF-25E2-26FF-DFFD05293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79AD9-33CB-D938-466D-088F42D95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AD222-D75E-0A02-AF00-9CD2975F4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E1F6-217D-454A-90AA-670B1CE268C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0CE97-FBDF-9FE6-C43C-9B96EF415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3CA3C-64AB-292C-99D3-56182526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641-1AD9-4246-B663-9C7FEC641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50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005-AC73-3694-ED92-DE1B0E643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17749-6698-C902-D7DD-0B6B8D306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F7B14-E498-4A41-854D-7A09C0A9B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7339BB-BFFF-1C33-E0BD-7F60C26CF5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87E4C5-1E12-DC3F-B055-465C93501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1ACD03-19B6-7A51-AB71-F4B70A40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E1F6-217D-454A-90AA-670B1CE268C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67E1AC-8976-F68D-732A-EBDCCA305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D441FB-EE4A-323E-A3F3-C306EA32B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641-1AD9-4246-B663-9C7FEC641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0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0229-354A-F717-20A2-C8DA9AB55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A5889-CB7C-72D1-1848-0753AF0D1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E1F6-217D-454A-90AA-670B1CE268C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DEB612-A39D-BA9F-0690-3AF536F34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A3444-5FCB-2B47-0CA5-9F6FC27B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641-1AD9-4246-B663-9C7FEC641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33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2C4BA6-609A-A259-7C41-14EF43BEB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E1F6-217D-454A-90AA-670B1CE268C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4A9948-D823-A4EE-D88B-02372DF1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09DDE-4A55-8E4B-872E-8C3549748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641-1AD9-4246-B663-9C7FEC641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9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F5BC1-32E9-C464-6EAC-13F0AE168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FF2E0-554B-56C0-9084-AFB3FC0AA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73782-48A8-75CD-0C89-2EE5C5550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D5769-D481-912A-06EA-F9713D555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E1F6-217D-454A-90AA-670B1CE268C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9F24E-39DD-32ED-F97D-C9299404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936E8-5314-1FE6-3DBF-CEF9EC044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641-1AD9-4246-B663-9C7FEC641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42039-96B6-47B8-2A1F-2639C3C94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D98B4F-2224-B548-B661-C0F7EC9D0C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9F660-2ACD-9240-61BB-41AEF05C0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AAE79-AECC-274D-78BC-8ECF0F3FD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E1F6-217D-454A-90AA-670B1CE268C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41F8B-F421-4CC2-BA36-AFC91A7B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15CC4-2010-6D03-CC50-F7F5EAE4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641-1AD9-4246-B663-9C7FEC641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727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59F4D-8797-BD72-EFF9-BA7FF0706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18775-150A-7706-853C-BA374C036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D0749-5DB1-5505-1388-6F6E9D07B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E1F6-217D-454A-90AA-670B1CE268C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F47AB-9E02-6451-75DA-B5B3AE6E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075C0-19F1-3DC9-2F2D-84F2C63E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641-1AD9-4246-B663-9C7FEC641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8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75B78E-12FD-AFFE-49AA-B08D65DF5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78C63-D899-8180-8289-6527922A0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52407-EDC6-41D4-E661-9D80D7401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E1F6-217D-454A-90AA-670B1CE268C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01E4A-67EA-1799-A6A8-7720E62B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F81A6-140D-ADAA-66BF-A2064E7D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641-1AD9-4246-B663-9C7FEC641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8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eridianHou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568A4B-1484-57E8-FAF9-075819B0B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C2F0D-BC31-E712-DE46-260F8B901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524000"/>
            <a:ext cx="10668000" cy="304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F737A-0C1A-C712-2043-C704ED0A06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43E1F6-217D-454A-90AA-670B1CE268C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85215-9166-877C-14F1-FE2E31EF9A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E8BC1-E4F6-FE8B-F30D-FBB6A83A0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BC641-1AD9-4246-B663-9C7FEC641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03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200"/>
        </a:spcBef>
        <a:spcAft>
          <a:spcPts val="800"/>
        </a:spcAft>
        <a:buSzPct val="95000"/>
        <a:buFont typeface="Arial" panose="020B0604020202020204" pitchFamily="34" charset="0"/>
        <a:buChar char="—"/>
        <a:defRPr sz="1400" kern="1200">
          <a:solidFill>
            <a:schemeClr val="dk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200"/>
        </a:spcBef>
        <a:spcAft>
          <a:spcPts val="500"/>
        </a:spcAft>
        <a:buSzPct val="90000"/>
        <a:buFont typeface="Arial" panose="020B0604020202020204" pitchFamily="34" charset="0"/>
        <a:buChar char="·"/>
        <a:defRPr sz="1100" kern="1200">
          <a:solidFill>
            <a:schemeClr val="dk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00"/>
        </a:spcBef>
        <a:spcAft>
          <a:spcPts val="400"/>
        </a:spcAft>
        <a:buSzPct val="90000"/>
        <a:buFont typeface="Arial" panose="020B0604020202020204" pitchFamily="34" charset="0"/>
        <a:buChar char="&gt;"/>
        <a:defRPr sz="1100" kern="1200">
          <a:solidFill>
            <a:schemeClr val="dk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CBB1D-744C-AD58-170D-C235F2FF0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0"/>
            <a:ext cx="10668000" cy="889000"/>
          </a:xfrm>
        </p:spPr>
        <p:txBody>
          <a:bodyPr/>
          <a:lstStyle/>
          <a:p>
            <a:r>
              <a:rPr lang="en-US"/>
              <a:t>Supply chain resilience assessment</a:t>
            </a:r>
          </a:p>
        </p:txBody>
      </p:sp>
      <p:sp>
        <p:nvSpPr>
          <p:cNvPr id="3" name="TitleRule">
            <a:extLst>
              <a:ext uri="{FF2B5EF4-FFF2-40B4-BE49-F238E27FC236}">
                <a16:creationId xmlns:a16="http://schemas.microsoft.com/office/drawing/2014/main" id="{972EE6E8-54B3-0BAD-1261-C024BC256842}"/>
              </a:ext>
            </a:extLst>
          </p:cNvPr>
          <p:cNvSpPr/>
          <p:nvPr/>
        </p:nvSpPr>
        <p:spPr>
          <a:xfrm>
            <a:off x="762000" y="1905000"/>
            <a:ext cx="3048000" cy="762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Box">
            <a:extLst>
              <a:ext uri="{FF2B5EF4-FFF2-40B4-BE49-F238E27FC236}">
                <a16:creationId xmlns:a16="http://schemas.microsoft.com/office/drawing/2014/main" id="{94ACBF8B-7AC7-4E15-6AD7-1E14D8234D4A}"/>
              </a:ext>
            </a:extLst>
          </p:cNvPr>
          <p:cNvSpPr txBox="1"/>
          <p:nvPr/>
        </p:nvSpPr>
        <p:spPr>
          <a:xfrm>
            <a:off x="762000" y="3429000"/>
            <a:ext cx="685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chemeClr val="accent3"/>
                </a:solidFill>
              </a:rPr>
              <a:t>Findings and countermeasure options</a:t>
            </a:r>
          </a:p>
        </p:txBody>
      </p:sp>
    </p:spTree>
    <p:extLst>
      <p:ext uri="{BB962C8B-B14F-4D97-AF65-F5344CB8AC3E}">
        <p14:creationId xmlns:p14="http://schemas.microsoft.com/office/powerpoint/2010/main" val="2014102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FC638-0B33-528F-E125-9EA9CF205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0"/>
            <a:ext cx="10668000" cy="762000"/>
          </a:xfrm>
        </p:spPr>
        <p:txBody>
          <a:bodyPr/>
          <a:lstStyle/>
          <a:p>
            <a:r>
              <a:rPr lang="en-US"/>
              <a:t>Exposure by tier</a:t>
            </a:r>
          </a:p>
        </p:txBody>
      </p:sp>
      <p:sp>
        <p:nvSpPr>
          <p:cNvPr id="3" name="SectionKicker">
            <a:extLst>
              <a:ext uri="{FF2B5EF4-FFF2-40B4-BE49-F238E27FC236}">
                <a16:creationId xmlns:a16="http://schemas.microsoft.com/office/drawing/2014/main" id="{520205A8-0B4D-765F-2ACF-D70B0CB44E02}"/>
              </a:ext>
            </a:extLst>
          </p:cNvPr>
          <p:cNvSpPr txBox="1"/>
          <p:nvPr/>
        </p:nvSpPr>
        <p:spPr>
          <a:xfrm>
            <a:off x="762000" y="2540000"/>
            <a:ext cx="304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chemeClr val="accent1"/>
                </a:solidFill>
              </a:rPr>
              <a:t>SECTION 02</a:t>
            </a:r>
          </a:p>
        </p:txBody>
      </p:sp>
      <p:sp>
        <p:nvSpPr>
          <p:cNvPr id="4" name="AccentRule">
            <a:extLst>
              <a:ext uri="{FF2B5EF4-FFF2-40B4-BE49-F238E27FC236}">
                <a16:creationId xmlns:a16="http://schemas.microsoft.com/office/drawing/2014/main" id="{572608B4-34AF-8C3B-BB9D-AC15DFC55D9F}"/>
              </a:ext>
            </a:extLst>
          </p:cNvPr>
          <p:cNvSpPr/>
          <p:nvPr/>
        </p:nvSpPr>
        <p:spPr>
          <a:xfrm>
            <a:off x="762000" y="4064000"/>
            <a:ext cx="10668000" cy="762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51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772DC-F8C1-E520-2BDA-7BE7EE184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Tier two concentration is the binding risk</a:t>
            </a:r>
          </a:p>
        </p:txBody>
      </p:sp>
      <p:sp>
        <p:nvSpPr>
          <p:cNvPr id="3" name="BodyContent">
            <a:extLst>
              <a:ext uri="{FF2B5EF4-FFF2-40B4-BE49-F238E27FC236}">
                <a16:creationId xmlns:a16="http://schemas.microsoft.com/office/drawing/2014/main" id="{706F3DD5-5893-57EF-9199-677F0E102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4000"/>
            <a:ext cx="10668000" cy="3048000"/>
          </a:xfrm>
        </p:spPr>
        <p:txBody>
          <a:bodyPr/>
          <a:lstStyle/>
          <a:p>
            <a:r>
              <a:rPr lang="en-US"/>
              <a:t>Three inputs share a single tier two source</a:t>
            </a:r>
          </a:p>
          <a:p>
            <a:pPr lvl="1"/>
            <a:r>
              <a:rPr lang="en-US"/>
              <a:t>All three sit in one coastal cluster</a:t>
            </a:r>
          </a:p>
          <a:p>
            <a:r>
              <a:rPr lang="en-US"/>
              <a:t>Qualified alternates exist for one input</a:t>
            </a:r>
          </a:p>
          <a:p>
            <a:pPr lvl="1"/>
            <a:r>
              <a:rPr lang="en-US"/>
              <a:t>Qualification lead time is nine months</a:t>
            </a:r>
          </a:p>
          <a:p>
            <a:r>
              <a:rPr lang="en-US"/>
              <a:t>Inventory covers six weeks of disruption</a:t>
            </a:r>
          </a:p>
        </p:txBody>
      </p:sp>
      <p:sp>
        <p:nvSpPr>
          <p:cNvPr id="4" name="TakeawayPanel">
            <a:extLst>
              <a:ext uri="{FF2B5EF4-FFF2-40B4-BE49-F238E27FC236}">
                <a16:creationId xmlns:a16="http://schemas.microsoft.com/office/drawing/2014/main" id="{DE58E4E9-31D3-AAA3-4EB9-8F22919AB7C4}"/>
              </a:ext>
            </a:extLst>
          </p:cNvPr>
          <p:cNvSpPr/>
          <p:nvPr/>
        </p:nvSpPr>
        <p:spPr>
          <a:xfrm>
            <a:off x="762000" y="48260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Key takeaway</a:t>
            </a:r>
          </a:p>
          <a:p>
            <a:r>
              <a:rPr lang="en-US" sz="1400">
                <a:solidFill>
                  <a:schemeClr val="dk1"/>
                </a:solidFill>
              </a:rPr>
              <a:t>Dual-sourcing the two unqualified inputs closes most of the exposure</a:t>
            </a:r>
          </a:p>
        </p:txBody>
      </p:sp>
      <p:sp>
        <p:nvSpPr>
          <p:cNvPr id="5" name="FooterNote">
            <a:extLst>
              <a:ext uri="{FF2B5EF4-FFF2-40B4-BE49-F238E27FC236}">
                <a16:creationId xmlns:a16="http://schemas.microsoft.com/office/drawing/2014/main" id="{7E73388C-C6A3-1FF9-6AA1-C07B630531C0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6" name="FooterPage">
            <a:extLst>
              <a:ext uri="{FF2B5EF4-FFF2-40B4-BE49-F238E27FC236}">
                <a16:creationId xmlns:a16="http://schemas.microsoft.com/office/drawing/2014/main" id="{6CE0DC20-7D63-967C-00FA-1126852153FE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04341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74E92-4722-1B82-0765-85370BB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Buffer stock versus dual sourcing</a:t>
            </a:r>
          </a:p>
        </p:txBody>
      </p:sp>
      <p:sp>
        <p:nvSpPr>
          <p:cNvPr id="3" name="ColumnPanelLeft">
            <a:extLst>
              <a:ext uri="{FF2B5EF4-FFF2-40B4-BE49-F238E27FC236}">
                <a16:creationId xmlns:a16="http://schemas.microsoft.com/office/drawing/2014/main" id="{EF7121C5-296E-7730-B660-17619D5657CC}"/>
              </a:ext>
            </a:extLst>
          </p:cNvPr>
          <p:cNvSpPr/>
          <p:nvPr/>
        </p:nvSpPr>
        <p:spPr>
          <a:xfrm>
            <a:off x="762000" y="1524000"/>
            <a:ext cx="3048000" cy="3810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Buffer stock</a:t>
            </a:r>
          </a:p>
          <a:p>
            <a:r>
              <a:rPr lang="en-US" sz="1400">
                <a:solidFill>
                  <a:schemeClr val="dk1"/>
                </a:solidFill>
              </a:rPr>
              <a:t>Live within one quarter</a:t>
            </a:r>
          </a:p>
          <a:p>
            <a:r>
              <a:rPr lang="en-US" sz="1400">
                <a:solidFill>
                  <a:schemeClr val="dk1"/>
                </a:solidFill>
              </a:rPr>
              <a:t>Ties up working capital</a:t>
            </a:r>
          </a:p>
          <a:p>
            <a:r>
              <a:rPr lang="en-US" sz="1400">
                <a:solidFill>
                  <a:schemeClr val="dk1"/>
                </a:solidFill>
              </a:rPr>
              <a:t>Decays as demand shifts</a:t>
            </a:r>
          </a:p>
        </p:txBody>
      </p:sp>
      <p:sp>
        <p:nvSpPr>
          <p:cNvPr id="4" name="ColumnPanelRight">
            <a:extLst>
              <a:ext uri="{FF2B5EF4-FFF2-40B4-BE49-F238E27FC236}">
                <a16:creationId xmlns:a16="http://schemas.microsoft.com/office/drawing/2014/main" id="{7D343F0A-C1C5-ECF3-8BE8-81DD57ABE4B6}"/>
              </a:ext>
            </a:extLst>
          </p:cNvPr>
          <p:cNvSpPr/>
          <p:nvPr/>
        </p:nvSpPr>
        <p:spPr>
          <a:xfrm>
            <a:off x="4572000" y="1524000"/>
            <a:ext cx="3048000" cy="3810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Dual source</a:t>
            </a:r>
          </a:p>
          <a:p>
            <a:r>
              <a:rPr lang="en-US" sz="1400">
                <a:solidFill>
                  <a:schemeClr val="dk1"/>
                </a:solidFill>
              </a:rPr>
              <a:t>Nine month qualification</a:t>
            </a:r>
          </a:p>
          <a:p>
            <a:r>
              <a:rPr lang="en-US" sz="1400">
                <a:solidFill>
                  <a:schemeClr val="dk1"/>
                </a:solidFill>
              </a:rPr>
              <a:t>Durable structural fix</a:t>
            </a:r>
          </a:p>
          <a:p>
            <a:r>
              <a:rPr lang="en-US" sz="1400">
                <a:solidFill>
                  <a:schemeClr val="dk1"/>
                </a:solidFill>
              </a:rPr>
              <a:t>Small unit cost premium</a:t>
            </a:r>
          </a:p>
        </p:txBody>
      </p:sp>
      <p:pic>
        <p:nvPicPr>
          <p:cNvPr id="6" name="SidebarExhibit">
            <a:extLst>
              <a:ext uri="{FF2B5EF4-FFF2-40B4-BE49-F238E27FC236}">
                <a16:creationId xmlns:a16="http://schemas.microsoft.com/office/drawing/2014/main" id="{1055EF45-5979-EBD9-811E-E49174AD6B9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524000"/>
            <a:ext cx="3048000" cy="2286000"/>
          </a:xfrm>
          <a:prstGeom prst="rect">
            <a:avLst/>
          </a:prstGeom>
        </p:spPr>
      </p:pic>
      <p:sp>
        <p:nvSpPr>
          <p:cNvPr id="7" name="SidebarCaption">
            <a:extLst>
              <a:ext uri="{FF2B5EF4-FFF2-40B4-BE49-F238E27FC236}">
                <a16:creationId xmlns:a16="http://schemas.microsoft.com/office/drawing/2014/main" id="{C4344570-DFC6-F116-8B05-F3820FAB171C}"/>
              </a:ext>
            </a:extLst>
          </p:cNvPr>
          <p:cNvSpPr txBox="1"/>
          <p:nvPr/>
        </p:nvSpPr>
        <p:spPr>
          <a:xfrm>
            <a:off x="8382000" y="4000500"/>
            <a:ext cx="304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chemeClr val="accent3"/>
                </a:solidFill>
              </a:rPr>
              <a:t>Exhibit 1 - option economics, synthetic</a:t>
            </a:r>
          </a:p>
        </p:txBody>
      </p:sp>
      <p:sp>
        <p:nvSpPr>
          <p:cNvPr id="8" name="FooterNote">
            <a:extLst>
              <a:ext uri="{FF2B5EF4-FFF2-40B4-BE49-F238E27FC236}">
                <a16:creationId xmlns:a16="http://schemas.microsoft.com/office/drawing/2014/main" id="{0FAAECF2-0ED6-412F-CB9A-A672CCD3CA63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9" name="FooterPage">
            <a:extLst>
              <a:ext uri="{FF2B5EF4-FFF2-40B4-BE49-F238E27FC236}">
                <a16:creationId xmlns:a16="http://schemas.microsoft.com/office/drawing/2014/main" id="{3AF44956-F2B9-9F16-3030-A6F8CD46E067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10203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614CE-862E-6920-8014-1530C0D5C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762000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ClosingRule">
            <a:extLst>
              <a:ext uri="{FF2B5EF4-FFF2-40B4-BE49-F238E27FC236}">
                <a16:creationId xmlns:a16="http://schemas.microsoft.com/office/drawing/2014/main" id="{D1C1E8E7-9FC6-691F-27DE-B07A64A580AE}"/>
              </a:ext>
            </a:extLst>
          </p:cNvPr>
          <p:cNvSpPr/>
          <p:nvPr/>
        </p:nvSpPr>
        <p:spPr>
          <a:xfrm>
            <a:off x="762000" y="2286000"/>
            <a:ext cx="3048000" cy="762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actPanel">
            <a:extLst>
              <a:ext uri="{FF2B5EF4-FFF2-40B4-BE49-F238E27FC236}">
                <a16:creationId xmlns:a16="http://schemas.microsoft.com/office/drawing/2014/main" id="{FA2AFECC-FEB0-3B0B-588C-2ED2BEEF9696}"/>
              </a:ext>
            </a:extLst>
          </p:cNvPr>
          <p:cNvSpPr/>
          <p:nvPr/>
        </p:nvSpPr>
        <p:spPr>
          <a:xfrm>
            <a:off x="4572000" y="3683000"/>
            <a:ext cx="3048000" cy="1778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Contact</a:t>
            </a:r>
          </a:p>
          <a:p>
            <a:r>
              <a:rPr lang="en-US" sz="1400">
                <a:solidFill>
                  <a:schemeClr val="dk1"/>
                </a:solidFill>
              </a:rPr>
              <a:t>Meridian Advisory</a:t>
            </a:r>
          </a:p>
          <a:p>
            <a:r>
              <a:rPr lang="en-US" sz="1400">
                <a:solidFill>
                  <a:schemeClr val="dk1"/>
                </a:solidFill>
              </a:rPr>
              <a:t>supply chain practice, synthetic</a:t>
            </a:r>
          </a:p>
          <a:p>
            <a:r>
              <a:rPr lang="en-US" sz="1400">
                <a:solidFill>
                  <a:schemeClr val="dk1"/>
                </a:solidFill>
              </a:rPr>
              <a:t>meridian.example</a:t>
            </a:r>
          </a:p>
        </p:txBody>
      </p:sp>
      <p:sp>
        <p:nvSpPr>
          <p:cNvPr id="5" name="FooterNote">
            <a:extLst>
              <a:ext uri="{FF2B5EF4-FFF2-40B4-BE49-F238E27FC236}">
                <a16:creationId xmlns:a16="http://schemas.microsoft.com/office/drawing/2014/main" id="{62BD613F-DED6-B581-3F9E-3E0035BD7914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6" name="FooterPage">
            <a:extLst>
              <a:ext uri="{FF2B5EF4-FFF2-40B4-BE49-F238E27FC236}">
                <a16:creationId xmlns:a16="http://schemas.microsoft.com/office/drawing/2014/main" id="{1572E25E-1439-5F2E-32DE-84DB68067F79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52032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0262B"/>
      </a:dk1>
      <a:lt1>
        <a:srgbClr val="FAF9F6"/>
      </a:lt1>
      <a:dk2>
        <a:srgbClr val="14324F"/>
      </a:dk2>
      <a:lt2>
        <a:srgbClr val="DCE3E8"/>
      </a:lt2>
      <a:accent1>
        <a:srgbClr val="1B7F79"/>
      </a:accent1>
      <a:accent2>
        <a:srgbClr val="D97C2B"/>
      </a:accent2>
      <a:accent3>
        <a:srgbClr val="3E5C76"/>
      </a:accent3>
      <a:accent4>
        <a:srgbClr val="8A5A83"/>
      </a:accent4>
      <a:accent5>
        <a:srgbClr val="5E8C61"/>
      </a:accent5>
      <a:accent6>
        <a:srgbClr val="B23A48"/>
      </a:accent6>
      <a:hlink>
        <a:srgbClr val="176B87"/>
      </a:hlink>
      <a:folHlink>
        <a:srgbClr val="6D5D8F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Supply chain resilience assessment</vt:lpstr>
      <vt:lpstr>Exposure by tier</vt:lpstr>
      <vt:lpstr>Tier two concentration is the binding risk</vt:lpstr>
      <vt:lpstr>Buffer stock versus dual sourcing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Timmons</dc:creator>
  <cp:lastModifiedBy>Matt Timmons</cp:lastModifiedBy>
  <cp:revision>1</cp:revision>
  <dcterms:created xsi:type="dcterms:W3CDTF">2026-07-05T18:35:02Z</dcterms:created>
  <dcterms:modified xsi:type="dcterms:W3CDTF">2026-07-05T18:35:02Z</dcterms:modified>
</cp:coreProperties>
</file>