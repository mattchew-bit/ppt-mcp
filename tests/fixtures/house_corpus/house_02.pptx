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69AE3-284A-3121-B885-753BB0D52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69DBFE-2B7C-4481-59EE-50E35DE1B4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E4C59-6F24-F9CC-61AA-CDBA74F26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D17-083D-4B7D-AC74-1690ABAFEAB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DCEF9-B6F2-2883-EC2C-12053F326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C176C-8910-C13D-1119-653A20C1D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4682-C288-43D6-B5FE-88FB63A73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787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4D0FA-C593-26DF-1572-AE01129F5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44FC8-CD2E-E125-D1D9-D648CAD47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9D304-FEEA-3F3B-9051-D99A0241D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D17-083D-4B7D-AC74-1690ABAFEAB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EFFFE-B372-2DB5-B894-CD5ECF87F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4B813-FAC5-81E9-6A9F-A7EB9861A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4682-C288-43D6-B5FE-88FB63A73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424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F1DD2-C0EB-4C5C-3F12-6EC92623E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C26EF-8F53-4253-A715-56A4C7DC4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B73DC-F8C7-D27E-82A2-B1F7F3A65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D17-083D-4B7D-AC74-1690ABAFEAB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62DF3-1C5A-3D1D-6CCA-BAEEDED4B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759C5-8E66-604D-7040-C195A205A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4682-C288-43D6-B5FE-88FB63A73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99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4101E-7CE0-FB73-DDFB-EC21D8AA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2052D-B6BF-6B9C-4E95-95AC54082F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453D39-10EA-67E7-6F7F-1752E7618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97DE8D-643E-082D-D716-BA2A8F73A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D17-083D-4B7D-AC74-1690ABAFEAB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BC53C-9C43-1031-9FEF-D74EF87D7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0A320-5B60-12E0-0161-1C96850CE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4682-C288-43D6-B5FE-88FB63A73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739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353C4-3CFA-1AD5-7186-EBC638289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AA62EE-9555-4EE6-A2F4-61606A3EC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BCA4D-B477-E9E9-28FD-333C971BA1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78E24E-EA62-E718-3CE8-1EC4735A8B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33F550-E21F-13C8-DF4B-E39EC58C71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2612DA-EA6C-833F-E992-D09999040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D17-083D-4B7D-AC74-1690ABAFEAB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AFD962-E300-F443-A1A0-58998171A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1C381C-71DF-E19F-FB19-4E54CD5F7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4682-C288-43D6-B5FE-88FB63A73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38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4BE3D-016F-3879-DBAE-5A746DC83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D62EAF-7081-4F2B-C2F3-B0913841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D17-083D-4B7D-AC74-1690ABAFEAB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242683-572C-CA61-862F-5D959D5B8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1CB7BF-8790-B978-98F3-9395373E2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4682-C288-43D6-B5FE-88FB63A73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16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E769CC-CF24-6F71-4832-5FA42A642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D17-083D-4B7D-AC74-1690ABAFEAB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BF8B4C-D615-7988-920A-800564A8A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722B2-B777-423E-9E96-83132FA18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4682-C288-43D6-B5FE-88FB63A73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74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2D9F6-24D7-C966-2380-35EDED6B5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BDDB5-B08D-1024-1AD8-BEECBA6BD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05F6FC-58CF-BE4D-09FB-5E46E95B8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0D58E9-115C-DA01-8017-785CB0EB1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D17-083D-4B7D-AC74-1690ABAFEAB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F327C-26EA-A851-B4D3-8CCA4C60A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E3B0F7-F53F-4679-BDC8-44C1A8CEC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4682-C288-43D6-B5FE-88FB63A73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71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A4952-23B3-4A3F-E748-5D3C3C70B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AB0591-9CB2-4D24-8579-8E71213B6A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B85868-90C1-887F-791E-767EF35E54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07D66F-1DD5-011D-7E9A-16A34FAA0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D17-083D-4B7D-AC74-1690ABAFEAB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D03473-1ED1-3617-AF78-9109FB259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F96B9A-82E9-E1FF-56CC-2040E0034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4682-C288-43D6-B5FE-88FB63A73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9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DE0BB-5229-50D2-655C-DA0B3FFB8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BC215F-2DBB-2F97-B9E9-BC8EA64F6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0F7CE-4BB3-1CC7-C040-BFEC987D1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D17-083D-4B7D-AC74-1690ABAFEAB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37E18-5380-A796-D64C-D661287D7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600BF-B291-2FD6-D866-933C1BC45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4682-C288-43D6-B5FE-88FB63A73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219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F29FBC-F527-9C3C-ADA3-7E62EF9B5B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EC1979-1F79-51C9-40A0-94294F3A48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C1DD4-9595-CBF5-00C8-6B3D434C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4BD17-083D-4B7D-AC74-1690ABAFEAB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E6F19-A309-810B-6160-3D8EF016C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FEBF0-7543-B809-7DAF-B42C0CEA7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4682-C288-43D6-B5FE-88FB63A73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39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eridianHou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6C16C6-4AD0-7252-B938-B19DAD55F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39FD6-EB9C-52E6-F808-F42AEBDC8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524000"/>
            <a:ext cx="10668000" cy="304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98C07-952E-B16E-EEC3-102F97E3BA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4BD17-083D-4B7D-AC74-1690ABAFEAB9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1B3CF-D1E8-DF65-1398-00D38B267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6B3F5-A425-F0A5-1C12-2C5CC65A6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284682-C288-43D6-B5FE-88FB63A73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309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kern="1200">
          <a:solidFill>
            <a:schemeClr val="dk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200"/>
        </a:spcBef>
        <a:spcAft>
          <a:spcPts val="800"/>
        </a:spcAft>
        <a:buSzPct val="95000"/>
        <a:buFont typeface="Arial" panose="020B0604020202020204" pitchFamily="34" charset="0"/>
        <a:buChar char="—"/>
        <a:defRPr sz="1400" kern="1200">
          <a:solidFill>
            <a:schemeClr val="dk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200"/>
        </a:spcBef>
        <a:spcAft>
          <a:spcPts val="500"/>
        </a:spcAft>
        <a:buSzPct val="90000"/>
        <a:buFont typeface="Arial" panose="020B0604020202020204" pitchFamily="34" charset="0"/>
        <a:buChar char="·"/>
        <a:defRPr sz="1100" kern="1200">
          <a:solidFill>
            <a:schemeClr val="dk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100"/>
        </a:spcBef>
        <a:spcAft>
          <a:spcPts val="400"/>
        </a:spcAft>
        <a:buSzPct val="90000"/>
        <a:buFont typeface="Arial" panose="020B0604020202020204" pitchFamily="34" charset="0"/>
        <a:buChar char="&gt;"/>
        <a:defRPr sz="1100" kern="1200">
          <a:solidFill>
            <a:schemeClr val="dk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EF663-87C1-E566-8384-8394800DA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286000"/>
            <a:ext cx="10668000" cy="889000"/>
          </a:xfrm>
        </p:spPr>
        <p:txBody>
          <a:bodyPr/>
          <a:lstStyle/>
          <a:p>
            <a:r>
              <a:rPr lang="en-US"/>
              <a:t>Operating model diagnostic</a:t>
            </a:r>
          </a:p>
        </p:txBody>
      </p:sp>
      <p:sp>
        <p:nvSpPr>
          <p:cNvPr id="3" name="TitleRule">
            <a:extLst>
              <a:ext uri="{FF2B5EF4-FFF2-40B4-BE49-F238E27FC236}">
                <a16:creationId xmlns:a16="http://schemas.microsoft.com/office/drawing/2014/main" id="{3BA5117B-0F29-0C90-008E-C034A025134C}"/>
              </a:ext>
            </a:extLst>
          </p:cNvPr>
          <p:cNvSpPr/>
          <p:nvPr/>
        </p:nvSpPr>
        <p:spPr>
          <a:xfrm>
            <a:off x="762000" y="1905000"/>
            <a:ext cx="3048000" cy="762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Box">
            <a:extLst>
              <a:ext uri="{FF2B5EF4-FFF2-40B4-BE49-F238E27FC236}">
                <a16:creationId xmlns:a16="http://schemas.microsoft.com/office/drawing/2014/main" id="{F5D1FCE7-E2C0-7015-CB97-AB600EE1F184}"/>
              </a:ext>
            </a:extLst>
          </p:cNvPr>
          <p:cNvSpPr txBox="1"/>
          <p:nvPr/>
        </p:nvSpPr>
        <p:spPr>
          <a:xfrm>
            <a:off x="762000" y="3429000"/>
            <a:ext cx="6858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chemeClr val="accent3"/>
                </a:solidFill>
              </a:rPr>
              <a:t>Readout for the transformation office</a:t>
            </a:r>
          </a:p>
        </p:txBody>
      </p:sp>
    </p:spTree>
    <p:extLst>
      <p:ext uri="{BB962C8B-B14F-4D97-AF65-F5344CB8AC3E}">
        <p14:creationId xmlns:p14="http://schemas.microsoft.com/office/powerpoint/2010/main" val="522430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C8D9F-C9BE-B6BF-02B6-551C803AB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</p:spPr>
        <p:txBody>
          <a:bodyPr/>
          <a:lstStyle/>
          <a:p>
            <a:r>
              <a:rPr lang="en-US"/>
              <a:t>What we will cover today</a:t>
            </a:r>
          </a:p>
        </p:txBody>
      </p:sp>
      <p:sp>
        <p:nvSpPr>
          <p:cNvPr id="3" name="BodyContent">
            <a:extLst>
              <a:ext uri="{FF2B5EF4-FFF2-40B4-BE49-F238E27FC236}">
                <a16:creationId xmlns:a16="http://schemas.microsoft.com/office/drawing/2014/main" id="{DFB7748E-C9E2-2D3A-398C-9E1CF86B77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524000"/>
            <a:ext cx="6858000" cy="4191000"/>
          </a:xfrm>
        </p:spPr>
        <p:txBody>
          <a:bodyPr/>
          <a:lstStyle/>
          <a:p>
            <a:r>
              <a:rPr lang="en-US"/>
              <a:t>Diagnostic scope and method</a:t>
            </a:r>
          </a:p>
          <a:p>
            <a:r>
              <a:rPr lang="en-US"/>
              <a:t>Findings across the four functions</a:t>
            </a:r>
          </a:p>
          <a:p>
            <a:r>
              <a:rPr lang="en-US"/>
              <a:t>Cost and service level trade-offs</a:t>
            </a:r>
          </a:p>
          <a:p>
            <a:r>
              <a:rPr lang="en-US"/>
              <a:t>Recommended sequence of moves</a:t>
            </a:r>
          </a:p>
        </p:txBody>
      </p:sp>
      <p:pic>
        <p:nvPicPr>
          <p:cNvPr id="5" name="SidebarExhibit">
            <a:extLst>
              <a:ext uri="{FF2B5EF4-FFF2-40B4-BE49-F238E27FC236}">
                <a16:creationId xmlns:a16="http://schemas.microsoft.com/office/drawing/2014/main" id="{356576BE-286A-E8BA-93F1-0B5FD63654A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524000"/>
            <a:ext cx="3048000" cy="2286000"/>
          </a:xfrm>
          <a:prstGeom prst="rect">
            <a:avLst/>
          </a:prstGeom>
        </p:spPr>
      </p:pic>
      <p:sp>
        <p:nvSpPr>
          <p:cNvPr id="6" name="SidebarCaption">
            <a:extLst>
              <a:ext uri="{FF2B5EF4-FFF2-40B4-BE49-F238E27FC236}">
                <a16:creationId xmlns:a16="http://schemas.microsoft.com/office/drawing/2014/main" id="{6FA0FDD2-D376-07AC-8A19-8D307FBBE54E}"/>
              </a:ext>
            </a:extLst>
          </p:cNvPr>
          <p:cNvSpPr txBox="1"/>
          <p:nvPr/>
        </p:nvSpPr>
        <p:spPr>
          <a:xfrm>
            <a:off x="8382000" y="4000500"/>
            <a:ext cx="304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i="1">
                <a:solidFill>
                  <a:schemeClr val="accent3"/>
                </a:solidFill>
              </a:rPr>
              <a:t>Exhibit 1 - service trend, synthetic</a:t>
            </a:r>
          </a:p>
        </p:txBody>
      </p:sp>
      <p:sp>
        <p:nvSpPr>
          <p:cNvPr id="7" name="FooterNote">
            <a:extLst>
              <a:ext uri="{FF2B5EF4-FFF2-40B4-BE49-F238E27FC236}">
                <a16:creationId xmlns:a16="http://schemas.microsoft.com/office/drawing/2014/main" id="{1B858926-7959-7186-0509-C41174DD08D6}"/>
              </a:ext>
            </a:extLst>
          </p:cNvPr>
          <p:cNvSpPr txBox="1"/>
          <p:nvPr/>
        </p:nvSpPr>
        <p:spPr>
          <a:xfrm>
            <a:off x="762000" y="63754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chemeClr val="accent3"/>
                </a:solidFill>
              </a:rPr>
              <a:t>Meridian Advisory | synthetic corpus</a:t>
            </a:r>
          </a:p>
        </p:txBody>
      </p:sp>
      <p:sp>
        <p:nvSpPr>
          <p:cNvPr id="8" name="FooterPage">
            <a:extLst>
              <a:ext uri="{FF2B5EF4-FFF2-40B4-BE49-F238E27FC236}">
                <a16:creationId xmlns:a16="http://schemas.microsoft.com/office/drawing/2014/main" id="{7B4A224D-9A39-C11F-1E80-87B1FA77E9CE}"/>
              </a:ext>
            </a:extLst>
          </p:cNvPr>
          <p:cNvSpPr txBox="1"/>
          <p:nvPr/>
        </p:nvSpPr>
        <p:spPr>
          <a:xfrm>
            <a:off x="9906000" y="6375400"/>
            <a:ext cx="152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chemeClr val="accent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63922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D51A8-2507-BFC8-A835-43705C94A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</p:spPr>
        <p:txBody>
          <a:bodyPr/>
          <a:lstStyle/>
          <a:p>
            <a:r>
              <a:rPr lang="en-US"/>
              <a:t>Handoffs between functions drive most delay</a:t>
            </a:r>
          </a:p>
        </p:txBody>
      </p:sp>
      <p:sp>
        <p:nvSpPr>
          <p:cNvPr id="3" name="BodyContent">
            <a:extLst>
              <a:ext uri="{FF2B5EF4-FFF2-40B4-BE49-F238E27FC236}">
                <a16:creationId xmlns:a16="http://schemas.microsoft.com/office/drawing/2014/main" id="{1FC2BE20-B3FE-7CF6-7C11-2DEBF85A2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524000"/>
            <a:ext cx="10668000" cy="3048000"/>
          </a:xfrm>
        </p:spPr>
        <p:txBody>
          <a:bodyPr/>
          <a:lstStyle/>
          <a:p>
            <a:r>
              <a:rPr lang="en-US"/>
              <a:t>Order journey crosses five functional lines</a:t>
            </a:r>
          </a:p>
          <a:p>
            <a:pPr lvl="1"/>
            <a:r>
              <a:rPr lang="en-US"/>
              <a:t>Each handoff adds queue time</a:t>
            </a:r>
          </a:p>
          <a:p>
            <a:pPr lvl="1"/>
            <a:r>
              <a:rPr lang="en-US"/>
              <a:t>No single owner tracks the full journey</a:t>
            </a:r>
          </a:p>
          <a:p>
            <a:r>
              <a:rPr lang="en-US"/>
              <a:t>Rework concentrates in two steps</a:t>
            </a:r>
          </a:p>
          <a:p>
            <a:pPr lvl="1"/>
            <a:r>
              <a:rPr lang="en-US"/>
              <a:t>Both steps rely on manual re-entry</a:t>
            </a:r>
          </a:p>
          <a:p>
            <a:r>
              <a:rPr lang="en-US"/>
              <a:t>Automation covers under a third of volume</a:t>
            </a:r>
          </a:p>
        </p:txBody>
      </p:sp>
      <p:sp>
        <p:nvSpPr>
          <p:cNvPr id="4" name="TakeawayPanel">
            <a:extLst>
              <a:ext uri="{FF2B5EF4-FFF2-40B4-BE49-F238E27FC236}">
                <a16:creationId xmlns:a16="http://schemas.microsoft.com/office/drawing/2014/main" id="{C9C4FF19-A5BC-0443-3126-9C68330BE70C}"/>
              </a:ext>
            </a:extLst>
          </p:cNvPr>
          <p:cNvSpPr/>
          <p:nvPr/>
        </p:nvSpPr>
        <p:spPr>
          <a:xfrm>
            <a:off x="762000" y="4826000"/>
            <a:ext cx="10668000" cy="889000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5875">
            <a:solidFill>
              <a:srgbClr val="14324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dk1"/>
                </a:solidFill>
              </a:rPr>
              <a:t>Key takeaway</a:t>
            </a:r>
          </a:p>
          <a:p>
            <a:r>
              <a:rPr lang="en-US" sz="1400">
                <a:solidFill>
                  <a:schemeClr val="dk1"/>
                </a:solidFill>
              </a:rPr>
              <a:t>Collapsing two handoffs removes roughly half of the end to end delay</a:t>
            </a:r>
          </a:p>
        </p:txBody>
      </p:sp>
      <p:sp>
        <p:nvSpPr>
          <p:cNvPr id="5" name="FooterNote">
            <a:extLst>
              <a:ext uri="{FF2B5EF4-FFF2-40B4-BE49-F238E27FC236}">
                <a16:creationId xmlns:a16="http://schemas.microsoft.com/office/drawing/2014/main" id="{17CFE7CA-4085-8356-65F9-ADF3BEF542AC}"/>
              </a:ext>
            </a:extLst>
          </p:cNvPr>
          <p:cNvSpPr txBox="1"/>
          <p:nvPr/>
        </p:nvSpPr>
        <p:spPr>
          <a:xfrm>
            <a:off x="762000" y="63754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chemeClr val="accent3"/>
                </a:solidFill>
              </a:rPr>
              <a:t>Meridian Advisory | synthetic corpus</a:t>
            </a:r>
          </a:p>
        </p:txBody>
      </p:sp>
      <p:sp>
        <p:nvSpPr>
          <p:cNvPr id="6" name="FooterPage">
            <a:extLst>
              <a:ext uri="{FF2B5EF4-FFF2-40B4-BE49-F238E27FC236}">
                <a16:creationId xmlns:a16="http://schemas.microsoft.com/office/drawing/2014/main" id="{6771CCFA-28A3-AC6E-7835-AD6886480B5D}"/>
              </a:ext>
            </a:extLst>
          </p:cNvPr>
          <p:cNvSpPr txBox="1"/>
          <p:nvPr/>
        </p:nvSpPr>
        <p:spPr>
          <a:xfrm>
            <a:off x="9906000" y="6375400"/>
            <a:ext cx="152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chemeClr val="accent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36689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C23DA-E7E6-3765-5982-8149EB5BE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</p:spPr>
        <p:txBody>
          <a:bodyPr/>
          <a:lstStyle/>
          <a:p>
            <a:r>
              <a:rPr lang="en-US"/>
              <a:t>Centralize or federate the shared services</a:t>
            </a:r>
          </a:p>
        </p:txBody>
      </p:sp>
      <p:sp>
        <p:nvSpPr>
          <p:cNvPr id="3" name="ColumnPanelLeft">
            <a:extLst>
              <a:ext uri="{FF2B5EF4-FFF2-40B4-BE49-F238E27FC236}">
                <a16:creationId xmlns:a16="http://schemas.microsoft.com/office/drawing/2014/main" id="{4D62F966-7176-2E47-95D0-0A017A8FC423}"/>
              </a:ext>
            </a:extLst>
          </p:cNvPr>
          <p:cNvSpPr/>
          <p:nvPr/>
        </p:nvSpPr>
        <p:spPr>
          <a:xfrm>
            <a:off x="762000" y="1524000"/>
            <a:ext cx="3048000" cy="3810000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5875">
            <a:solidFill>
              <a:srgbClr val="14324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dk1"/>
                </a:solidFill>
              </a:rPr>
              <a:t>Centralize</a:t>
            </a:r>
          </a:p>
          <a:p>
            <a:r>
              <a:rPr lang="en-US" sz="1400">
                <a:solidFill>
                  <a:schemeClr val="dk1"/>
                </a:solidFill>
              </a:rPr>
              <a:t>One global process owner</a:t>
            </a:r>
          </a:p>
          <a:p>
            <a:r>
              <a:rPr lang="en-US" sz="1400">
                <a:solidFill>
                  <a:schemeClr val="dk1"/>
                </a:solidFill>
              </a:rPr>
              <a:t>Deepest scale economics</a:t>
            </a:r>
          </a:p>
          <a:p>
            <a:r>
              <a:rPr lang="en-US" sz="1400">
                <a:solidFill>
                  <a:schemeClr val="dk1"/>
                </a:solidFill>
              </a:rPr>
              <a:t>Longer change program</a:t>
            </a:r>
          </a:p>
        </p:txBody>
      </p:sp>
      <p:sp>
        <p:nvSpPr>
          <p:cNvPr id="4" name="ColumnPanelRight">
            <a:extLst>
              <a:ext uri="{FF2B5EF4-FFF2-40B4-BE49-F238E27FC236}">
                <a16:creationId xmlns:a16="http://schemas.microsoft.com/office/drawing/2014/main" id="{112122A5-7876-B4FA-7E47-EE9A4543604B}"/>
              </a:ext>
            </a:extLst>
          </p:cNvPr>
          <p:cNvSpPr/>
          <p:nvPr/>
        </p:nvSpPr>
        <p:spPr>
          <a:xfrm>
            <a:off x="4572000" y="1524000"/>
            <a:ext cx="3048000" cy="3810000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5875">
            <a:solidFill>
              <a:srgbClr val="14324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dk1"/>
                </a:solidFill>
              </a:rPr>
              <a:t>Federate</a:t>
            </a:r>
          </a:p>
          <a:p>
            <a:r>
              <a:rPr lang="en-US" sz="1400">
                <a:solidFill>
                  <a:schemeClr val="dk1"/>
                </a:solidFill>
              </a:rPr>
              <a:t>Regional autonomy preserved</a:t>
            </a:r>
          </a:p>
          <a:p>
            <a:r>
              <a:rPr lang="en-US" sz="1400">
                <a:solidFill>
                  <a:schemeClr val="dk1"/>
                </a:solidFill>
              </a:rPr>
              <a:t>Faster local adoption</a:t>
            </a:r>
          </a:p>
          <a:p>
            <a:r>
              <a:rPr lang="en-US" sz="1400">
                <a:solidFill>
                  <a:schemeClr val="dk1"/>
                </a:solidFill>
              </a:rPr>
              <a:t>Duplicated tooling remains</a:t>
            </a:r>
          </a:p>
        </p:txBody>
      </p:sp>
      <p:pic>
        <p:nvPicPr>
          <p:cNvPr id="6" name="SidebarExhibit">
            <a:extLst>
              <a:ext uri="{FF2B5EF4-FFF2-40B4-BE49-F238E27FC236}">
                <a16:creationId xmlns:a16="http://schemas.microsoft.com/office/drawing/2014/main" id="{6502CD3D-F83E-A374-675F-E1DCB8B139A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524000"/>
            <a:ext cx="3048000" cy="2286000"/>
          </a:xfrm>
          <a:prstGeom prst="rect">
            <a:avLst/>
          </a:prstGeom>
        </p:spPr>
      </p:pic>
      <p:sp>
        <p:nvSpPr>
          <p:cNvPr id="7" name="SidebarCaption">
            <a:extLst>
              <a:ext uri="{FF2B5EF4-FFF2-40B4-BE49-F238E27FC236}">
                <a16:creationId xmlns:a16="http://schemas.microsoft.com/office/drawing/2014/main" id="{870AE73E-85FE-03EC-39E6-1B1E39A472EF}"/>
              </a:ext>
            </a:extLst>
          </p:cNvPr>
          <p:cNvSpPr txBox="1"/>
          <p:nvPr/>
        </p:nvSpPr>
        <p:spPr>
          <a:xfrm>
            <a:off x="8382000" y="4000500"/>
            <a:ext cx="304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i="1">
                <a:solidFill>
                  <a:schemeClr val="accent3"/>
                </a:solidFill>
              </a:rPr>
              <a:t>Exhibit 2 - model options, synthetic</a:t>
            </a:r>
          </a:p>
        </p:txBody>
      </p:sp>
      <p:sp>
        <p:nvSpPr>
          <p:cNvPr id="8" name="FooterNote">
            <a:extLst>
              <a:ext uri="{FF2B5EF4-FFF2-40B4-BE49-F238E27FC236}">
                <a16:creationId xmlns:a16="http://schemas.microsoft.com/office/drawing/2014/main" id="{0FEB80C7-7758-D95C-3122-21FC106AAAC3}"/>
              </a:ext>
            </a:extLst>
          </p:cNvPr>
          <p:cNvSpPr txBox="1"/>
          <p:nvPr/>
        </p:nvSpPr>
        <p:spPr>
          <a:xfrm>
            <a:off x="762000" y="63754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chemeClr val="accent3"/>
                </a:solidFill>
              </a:rPr>
              <a:t>Meridian Advisory | synthetic corpus</a:t>
            </a:r>
          </a:p>
        </p:txBody>
      </p:sp>
      <p:sp>
        <p:nvSpPr>
          <p:cNvPr id="9" name="FooterPage">
            <a:extLst>
              <a:ext uri="{FF2B5EF4-FFF2-40B4-BE49-F238E27FC236}">
                <a16:creationId xmlns:a16="http://schemas.microsoft.com/office/drawing/2014/main" id="{36CADBF3-16BE-6DD2-FF13-6F8B6665EEE4}"/>
              </a:ext>
            </a:extLst>
          </p:cNvPr>
          <p:cNvSpPr txBox="1"/>
          <p:nvPr/>
        </p:nvSpPr>
        <p:spPr>
          <a:xfrm>
            <a:off x="9906000" y="6375400"/>
            <a:ext cx="152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chemeClr val="accent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59256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48162-7666-9984-94F0-AEBEDB33B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048000"/>
            <a:ext cx="10668000" cy="762000"/>
          </a:xfrm>
        </p:spPr>
        <p:txBody>
          <a:bodyPr/>
          <a:lstStyle/>
          <a:p>
            <a:r>
              <a:rPr lang="en-US"/>
              <a:t>Recommended sequence</a:t>
            </a:r>
          </a:p>
        </p:txBody>
      </p:sp>
      <p:sp>
        <p:nvSpPr>
          <p:cNvPr id="3" name="SectionKicker">
            <a:extLst>
              <a:ext uri="{FF2B5EF4-FFF2-40B4-BE49-F238E27FC236}">
                <a16:creationId xmlns:a16="http://schemas.microsoft.com/office/drawing/2014/main" id="{89AA71E0-D2C4-DF07-C916-BA5C39D9DA1A}"/>
              </a:ext>
            </a:extLst>
          </p:cNvPr>
          <p:cNvSpPr txBox="1"/>
          <p:nvPr/>
        </p:nvSpPr>
        <p:spPr>
          <a:xfrm>
            <a:off x="762000" y="2540000"/>
            <a:ext cx="304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chemeClr val="accent1"/>
                </a:solidFill>
              </a:rPr>
              <a:t>SECTION 03</a:t>
            </a:r>
          </a:p>
        </p:txBody>
      </p:sp>
      <p:sp>
        <p:nvSpPr>
          <p:cNvPr id="4" name="AccentRule">
            <a:extLst>
              <a:ext uri="{FF2B5EF4-FFF2-40B4-BE49-F238E27FC236}">
                <a16:creationId xmlns:a16="http://schemas.microsoft.com/office/drawing/2014/main" id="{FFFAC3BC-754C-B9B6-C0B3-FB20B9570AD6}"/>
              </a:ext>
            </a:extLst>
          </p:cNvPr>
          <p:cNvSpPr/>
          <p:nvPr/>
        </p:nvSpPr>
        <p:spPr>
          <a:xfrm>
            <a:off x="762000" y="4064000"/>
            <a:ext cx="10668000" cy="76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129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26374-B787-DDFE-11FE-E419254B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762000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ClosingRule">
            <a:extLst>
              <a:ext uri="{FF2B5EF4-FFF2-40B4-BE49-F238E27FC236}">
                <a16:creationId xmlns:a16="http://schemas.microsoft.com/office/drawing/2014/main" id="{5D54712F-DD87-4DE0-80E4-5C0D4B128BF6}"/>
              </a:ext>
            </a:extLst>
          </p:cNvPr>
          <p:cNvSpPr/>
          <p:nvPr/>
        </p:nvSpPr>
        <p:spPr>
          <a:xfrm>
            <a:off x="762000" y="2286000"/>
            <a:ext cx="3048000" cy="762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actPanel">
            <a:extLst>
              <a:ext uri="{FF2B5EF4-FFF2-40B4-BE49-F238E27FC236}">
                <a16:creationId xmlns:a16="http://schemas.microsoft.com/office/drawing/2014/main" id="{A3B55E3F-CEBE-C2FF-66FF-A3F5BF91665B}"/>
              </a:ext>
            </a:extLst>
          </p:cNvPr>
          <p:cNvSpPr/>
          <p:nvPr/>
        </p:nvSpPr>
        <p:spPr>
          <a:xfrm>
            <a:off x="4572000" y="3683000"/>
            <a:ext cx="3048000" cy="1778000"/>
          </a:xfrm>
          <a:prstGeom prst="roundRect">
            <a:avLst>
              <a:gd name="adj" fmla="val 12000"/>
            </a:avLst>
          </a:prstGeom>
          <a:solidFill>
            <a:srgbClr val="DCE3E8"/>
          </a:solidFill>
          <a:ln w="15875">
            <a:solidFill>
              <a:srgbClr val="14324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chemeClr val="dk1"/>
                </a:solidFill>
              </a:rPr>
              <a:t>Contact</a:t>
            </a:r>
          </a:p>
          <a:p>
            <a:r>
              <a:rPr lang="en-US" sz="1400">
                <a:solidFill>
                  <a:schemeClr val="dk1"/>
                </a:solidFill>
              </a:rPr>
              <a:t>Meridian Advisory</a:t>
            </a:r>
          </a:p>
          <a:p>
            <a:r>
              <a:rPr lang="en-US" sz="1400">
                <a:solidFill>
                  <a:schemeClr val="dk1"/>
                </a:solidFill>
              </a:rPr>
              <a:t>operations practice, synthetic</a:t>
            </a:r>
          </a:p>
          <a:p>
            <a:r>
              <a:rPr lang="en-US" sz="1400">
                <a:solidFill>
                  <a:schemeClr val="dk1"/>
                </a:solidFill>
              </a:rPr>
              <a:t>meridian.example</a:t>
            </a:r>
          </a:p>
        </p:txBody>
      </p:sp>
      <p:sp>
        <p:nvSpPr>
          <p:cNvPr id="5" name="FooterNote">
            <a:extLst>
              <a:ext uri="{FF2B5EF4-FFF2-40B4-BE49-F238E27FC236}">
                <a16:creationId xmlns:a16="http://schemas.microsoft.com/office/drawing/2014/main" id="{33AFBA47-6B45-6332-00C1-CCD740BB79B4}"/>
              </a:ext>
            </a:extLst>
          </p:cNvPr>
          <p:cNvSpPr txBox="1"/>
          <p:nvPr/>
        </p:nvSpPr>
        <p:spPr>
          <a:xfrm>
            <a:off x="762000" y="63754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chemeClr val="accent3"/>
                </a:solidFill>
              </a:rPr>
              <a:t>Meridian Advisory | synthetic corpus</a:t>
            </a:r>
          </a:p>
        </p:txBody>
      </p:sp>
      <p:sp>
        <p:nvSpPr>
          <p:cNvPr id="6" name="FooterPage">
            <a:extLst>
              <a:ext uri="{FF2B5EF4-FFF2-40B4-BE49-F238E27FC236}">
                <a16:creationId xmlns:a16="http://schemas.microsoft.com/office/drawing/2014/main" id="{473C59CC-B5AB-7CC7-5BB3-BADEBD192E35}"/>
              </a:ext>
            </a:extLst>
          </p:cNvPr>
          <p:cNvSpPr txBox="1"/>
          <p:nvPr/>
        </p:nvSpPr>
        <p:spPr>
          <a:xfrm>
            <a:off x="9906000" y="6375400"/>
            <a:ext cx="152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100">
                <a:solidFill>
                  <a:schemeClr val="accent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821421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0262B"/>
      </a:dk1>
      <a:lt1>
        <a:srgbClr val="FAF9F6"/>
      </a:lt1>
      <a:dk2>
        <a:srgbClr val="14324F"/>
      </a:dk2>
      <a:lt2>
        <a:srgbClr val="DCE3E8"/>
      </a:lt2>
      <a:accent1>
        <a:srgbClr val="1B7F79"/>
      </a:accent1>
      <a:accent2>
        <a:srgbClr val="D97C2B"/>
      </a:accent2>
      <a:accent3>
        <a:srgbClr val="3E5C76"/>
      </a:accent3>
      <a:accent4>
        <a:srgbClr val="8A5A83"/>
      </a:accent4>
      <a:accent5>
        <a:srgbClr val="5E8C61"/>
      </a:accent5>
      <a:accent6>
        <a:srgbClr val="B23A48"/>
      </a:accent6>
      <a:hlink>
        <a:srgbClr val="176B87"/>
      </a:hlink>
      <a:folHlink>
        <a:srgbClr val="6D5D8F"/>
      </a:folHlink>
    </a:clrScheme>
    <a:fontScheme name="Office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Operating model diagnostic</vt:lpstr>
      <vt:lpstr>What we will cover today</vt:lpstr>
      <vt:lpstr>Handoffs between functions drive most delay</vt:lpstr>
      <vt:lpstr>Centralize or federate the shared services</vt:lpstr>
      <vt:lpstr>Recommended sequence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Timmons</dc:creator>
  <cp:lastModifiedBy>Matt Timmons</cp:lastModifiedBy>
  <cp:revision>1</cp:revision>
  <dcterms:created xsi:type="dcterms:W3CDTF">2026-07-05T18:34:59Z</dcterms:created>
  <dcterms:modified xsi:type="dcterms:W3CDTF">2026-07-05T18:34:59Z</dcterms:modified>
</cp:coreProperties>
</file>