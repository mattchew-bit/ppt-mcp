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836D-2763-56F4-9F4C-99A14980A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68A4E-9DF8-8CD6-3536-33C5342BC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1E143-D754-3F42-41E1-5802B91C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B372-CC92-092B-3C83-8F908B47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B7FB9-2481-73BF-781F-5F82F373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9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55194-2A18-68EA-73C6-6DBBA3F8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E647A-87BA-D5EC-938E-C93F5AE54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BEA0-1EE6-31A0-0CE4-7A58FB67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AF7C-F873-7803-52E1-2B229219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0D09C-EDDA-2752-CD13-412F9627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8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0DA9-9D1D-FF5F-9458-1E717A12B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73ED4-2E01-8CF2-AC28-AA40FD63C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18EFD-06B1-CA72-64ED-DE31DAF5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37691-9C69-2795-9203-A8C7CD77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61BA-E484-E78E-D4AE-FD05D05A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8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7C63-00E5-AA66-7F53-11521894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8EE0E-7870-912E-E93D-7AE228BD7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014A8-5539-1813-7110-8A608E9B0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5647F-2B2E-D28E-8736-7C6E3C5C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CF0FF-216B-9C03-391C-F5046817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0161-F5CE-6E29-DDD4-6E3E6D20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5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8430-90AB-8C4C-99D4-00A68725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CE788-9226-DBBF-F0AF-EF10C570A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A8220-37AC-B857-4F49-DAAE133D9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3F230-E366-D14B-FB55-B92CFBACC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76543-2995-C32E-607D-108A34D33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3AE25-141A-8F43-8B7F-9EA6AEAE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E94DD-B098-F8FF-51FB-77E48CEC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735C3-6A3C-FCA4-E45B-52B3FC24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F1FA-1216-D440-B06C-72715C30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BAA2E-BF03-1DDC-3F71-E5FCC8CD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26382-78DE-AC51-4DCB-6037E602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93589-7195-2C14-FC5B-DABCB87D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3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EE1D1-DB81-F7DC-A478-574EB15B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5AF98-3B59-E60B-0FBF-A6BA8D7A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9A958-D6CF-4F10-C192-520975FB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0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F233-5863-6E99-D4E4-BE1187C8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86C8-EEB4-A0B8-13B2-0815BBADD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88DF7-29E8-7998-ED2B-9CFC0ADD5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685CD-273C-8B28-661E-D84D1688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954E6-5450-2157-059F-1288DD199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5B65-1D0C-34C7-ECC8-36A90C3D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6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7910-6CAA-C31F-D6EC-D4F19E21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C55BA-6D78-E486-CCDC-748DDB9EC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8206F-88F5-C78B-76ED-C64BC0610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95E01-741A-D0FB-DEB6-698C63E1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8E010-E4E8-D8CC-B6C1-2092B3A0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19F5-448D-B540-CAD7-250DEC41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5274-77EB-5509-39F1-24156B7A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A4050-F931-8B7B-82E2-C18607FC9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DDBD8-9388-7BB0-D866-2A0CE55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00790-1C7A-6C40-E7C8-73BD315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1797B-ABBB-485B-D635-2880AB7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8E5A6-B0FA-36C6-AC02-550BBE1B0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99265-D80F-1FB5-098F-E70B2358D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F2F09-E947-03B9-22F6-251CD773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4E90F-8993-1DC0-9F81-38CF3657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DA502-5E11-CF0D-54BB-81614513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7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Hou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53E775-FCC6-0F1E-617A-4F8BA616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77FEE-681F-4E91-832A-36B1A8159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B3DC8-806F-A0A6-65E6-49EB7D272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FEA71-1968-49E7-877C-45520409349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5AF75-6E04-D71C-4F3D-10B3055B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FC291-B342-B2C0-424B-81633992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2568F-F0B0-4B13-8FE0-80B9C8062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2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800"/>
        </a:spcAft>
        <a:buSzPct val="95000"/>
        <a:buFont typeface="Arial" panose="020B0604020202020204" pitchFamily="34" charset="0"/>
        <a:buChar char="—"/>
        <a:defRPr sz="14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500"/>
        </a:spcAft>
        <a:buSzPct val="90000"/>
        <a:buFont typeface="Arial" panose="020B0604020202020204" pitchFamily="34" charset="0"/>
        <a:buChar char="·"/>
        <a:defRPr sz="1100" kern="12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"/>
        </a:spcBef>
        <a:spcAft>
          <a:spcPts val="400"/>
        </a:spcAft>
        <a:buSzPct val="90000"/>
        <a:buFont typeface="Arial" panose="020B0604020202020204" pitchFamily="34" charset="0"/>
        <a:buChar char="&gt;"/>
        <a:defRPr sz="1100" kern="12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2B91-A28A-A23D-F090-9B495350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889000"/>
          </a:xfrm>
        </p:spPr>
        <p:txBody>
          <a:bodyPr/>
          <a:lstStyle/>
          <a:p>
            <a:r>
              <a:rPr lang="en-US"/>
              <a:t>Digital roadmap briefing</a:t>
            </a:r>
          </a:p>
        </p:txBody>
      </p:sp>
      <p:sp>
        <p:nvSpPr>
          <p:cNvPr id="3" name="TitleRule">
            <a:extLst>
              <a:ext uri="{FF2B5EF4-FFF2-40B4-BE49-F238E27FC236}">
                <a16:creationId xmlns:a16="http://schemas.microsoft.com/office/drawing/2014/main" id="{DC2B0B4D-E7BB-7048-D9BA-78B38A1253CE}"/>
              </a:ext>
            </a:extLst>
          </p:cNvPr>
          <p:cNvSpPr/>
          <p:nvPr/>
        </p:nvSpPr>
        <p:spPr>
          <a:xfrm>
            <a:off x="762000" y="1905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Box">
            <a:extLst>
              <a:ext uri="{FF2B5EF4-FFF2-40B4-BE49-F238E27FC236}">
                <a16:creationId xmlns:a16="http://schemas.microsoft.com/office/drawing/2014/main" id="{69158299-B280-7B46-5BAA-8B95010C1742}"/>
              </a:ext>
            </a:extLst>
          </p:cNvPr>
          <p:cNvSpPr txBox="1"/>
          <p:nvPr/>
        </p:nvSpPr>
        <p:spPr>
          <a:xfrm>
            <a:off x="762000" y="3429000"/>
            <a:ext cx="685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Quarterly portfolio review</a:t>
            </a:r>
          </a:p>
        </p:txBody>
      </p:sp>
    </p:spTree>
    <p:extLst>
      <p:ext uri="{BB962C8B-B14F-4D97-AF65-F5344CB8AC3E}">
        <p14:creationId xmlns:p14="http://schemas.microsoft.com/office/powerpoint/2010/main" val="2996560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800B-25BF-ABD9-18F3-F52E6461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Portfolio review agenda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3552C7FF-A119-2706-9947-CA315501C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6858000" cy="4191000"/>
          </a:xfrm>
        </p:spPr>
        <p:txBody>
          <a:bodyPr/>
          <a:lstStyle/>
          <a:p>
            <a:r>
              <a:rPr lang="en-US"/>
              <a:t>Delivery status by initiative</a:t>
            </a:r>
          </a:p>
          <a:p>
            <a:r>
              <a:rPr lang="en-US"/>
              <a:t>Budget consumption against plan</a:t>
            </a:r>
          </a:p>
          <a:p>
            <a:r>
              <a:rPr lang="en-US"/>
              <a:t>Re-prioritization proposals</a:t>
            </a:r>
          </a:p>
          <a:p>
            <a:r>
              <a:rPr lang="en-US"/>
              <a:t>Decisions requested today</a:t>
            </a:r>
          </a:p>
        </p:txBody>
      </p:sp>
      <p:pic>
        <p:nvPicPr>
          <p:cNvPr id="5" name="SidebarExhibit">
            <a:extLst>
              <a:ext uri="{FF2B5EF4-FFF2-40B4-BE49-F238E27FC236}">
                <a16:creationId xmlns:a16="http://schemas.microsoft.com/office/drawing/2014/main" id="{02BDBFA2-67CF-555F-9DBC-BE1DF8D4C2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6" name="SidebarCaption">
            <a:extLst>
              <a:ext uri="{FF2B5EF4-FFF2-40B4-BE49-F238E27FC236}">
                <a16:creationId xmlns:a16="http://schemas.microsoft.com/office/drawing/2014/main" id="{54AFC575-374C-135F-38F8-616B189EEC7C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1 - delivery velocity, synthetic</a:t>
            </a:r>
          </a:p>
        </p:txBody>
      </p:sp>
      <p:sp>
        <p:nvSpPr>
          <p:cNvPr id="7" name="FooterNote">
            <a:extLst>
              <a:ext uri="{FF2B5EF4-FFF2-40B4-BE49-F238E27FC236}">
                <a16:creationId xmlns:a16="http://schemas.microsoft.com/office/drawing/2014/main" id="{A17ADA4D-2728-932F-58ED-8B0FA82A182C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8" name="FooterPage">
            <a:extLst>
              <a:ext uri="{FF2B5EF4-FFF2-40B4-BE49-F238E27FC236}">
                <a16:creationId xmlns:a16="http://schemas.microsoft.com/office/drawing/2014/main" id="{31B233FC-FBC3-7CDA-856B-74F2F678986A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0203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2412-ACB5-992E-7553-7561BD2A5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Two initiatives need a scope decision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37E31A30-6533-FDE8-BC18-E38E2AD83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Customer portal is ahead of schedule</a:t>
            </a:r>
          </a:p>
          <a:p>
            <a:pPr lvl="1"/>
            <a:r>
              <a:rPr lang="en-US"/>
              <a:t>Second release can pull forward</a:t>
            </a:r>
          </a:p>
          <a:p>
            <a:r>
              <a:rPr lang="en-US"/>
              <a:t>Data platform burn exceeds plan</a:t>
            </a:r>
          </a:p>
          <a:p>
            <a:pPr lvl="1"/>
            <a:r>
              <a:rPr lang="en-US"/>
              <a:t>Scope grew after the pilot feedback</a:t>
            </a:r>
          </a:p>
          <a:p>
            <a:pPr lvl="2"/>
            <a:r>
              <a:rPr lang="en-US"/>
              <a:t>Storage costs doubled the estimate</a:t>
            </a:r>
          </a:p>
          <a:p>
            <a:r>
              <a:rPr lang="en-US"/>
              <a:t>Field app awaits the platform decision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624879CD-408F-D300-4FDB-14399B6CD236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Trimming platform scope funds the portal pull-forward inside the same envelope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1C2190F4-B395-043B-CA0B-6DAF6121E108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25D64093-89C5-31C7-5E96-A5A1C7E50615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3588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FF44-59C2-8D31-65F9-DE1B0851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Trim scope or extend the timeline</a:t>
            </a:r>
          </a:p>
        </p:txBody>
      </p:sp>
      <p:sp>
        <p:nvSpPr>
          <p:cNvPr id="3" name="ColumnPanelLeft">
            <a:extLst>
              <a:ext uri="{FF2B5EF4-FFF2-40B4-BE49-F238E27FC236}">
                <a16:creationId xmlns:a16="http://schemas.microsoft.com/office/drawing/2014/main" id="{B9670669-BA71-1E4A-90EA-0AFCE43FFC9E}"/>
              </a:ext>
            </a:extLst>
          </p:cNvPr>
          <p:cNvSpPr/>
          <p:nvPr/>
        </p:nvSpPr>
        <p:spPr>
          <a:xfrm>
            <a:off x="76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Trim scope</a:t>
            </a:r>
          </a:p>
          <a:p>
            <a:r>
              <a:rPr lang="en-US" sz="1400">
                <a:solidFill>
                  <a:schemeClr val="dk1"/>
                </a:solidFill>
              </a:rPr>
              <a:t>Holds the budget envelope</a:t>
            </a:r>
          </a:p>
          <a:p>
            <a:r>
              <a:rPr lang="en-US" sz="1400">
                <a:solidFill>
                  <a:schemeClr val="dk1"/>
                </a:solidFill>
              </a:rPr>
              <a:t>Defers two data domains</a:t>
            </a:r>
          </a:p>
          <a:p>
            <a:r>
              <a:rPr lang="en-US" sz="1400">
                <a:solidFill>
                  <a:schemeClr val="dk1"/>
                </a:solidFill>
              </a:rPr>
              <a:t>Keeps the release date</a:t>
            </a:r>
          </a:p>
        </p:txBody>
      </p:sp>
      <p:sp>
        <p:nvSpPr>
          <p:cNvPr id="4" name="ColumnPanelRight">
            <a:extLst>
              <a:ext uri="{FF2B5EF4-FFF2-40B4-BE49-F238E27FC236}">
                <a16:creationId xmlns:a16="http://schemas.microsoft.com/office/drawing/2014/main" id="{4BE05915-5DAA-A8EA-01D5-FFC727278389}"/>
              </a:ext>
            </a:extLst>
          </p:cNvPr>
          <p:cNvSpPr/>
          <p:nvPr/>
        </p:nvSpPr>
        <p:spPr>
          <a:xfrm>
            <a:off x="457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Extend timeline</a:t>
            </a:r>
          </a:p>
          <a:p>
            <a:r>
              <a:rPr lang="en-US" sz="1400">
                <a:solidFill>
                  <a:schemeClr val="dk1"/>
                </a:solidFill>
              </a:rPr>
              <a:t>Delivers the full scope</a:t>
            </a:r>
          </a:p>
          <a:p>
            <a:r>
              <a:rPr lang="en-US" sz="1400">
                <a:solidFill>
                  <a:schemeClr val="dk1"/>
                </a:solidFill>
              </a:rPr>
              <a:t>Adds two quarters of burn</a:t>
            </a:r>
          </a:p>
          <a:p>
            <a:r>
              <a:rPr lang="en-US" sz="1400">
                <a:solidFill>
                  <a:schemeClr val="dk1"/>
                </a:solidFill>
              </a:rPr>
              <a:t>Delays dependent projects</a:t>
            </a:r>
          </a:p>
        </p:txBody>
      </p:sp>
      <p:pic>
        <p:nvPicPr>
          <p:cNvPr id="6" name="SidebarExhibit">
            <a:extLst>
              <a:ext uri="{FF2B5EF4-FFF2-40B4-BE49-F238E27FC236}">
                <a16:creationId xmlns:a16="http://schemas.microsoft.com/office/drawing/2014/main" id="{FA53512A-1710-1F03-B081-80D1994547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7" name="SidebarCaption">
            <a:extLst>
              <a:ext uri="{FF2B5EF4-FFF2-40B4-BE49-F238E27FC236}">
                <a16:creationId xmlns:a16="http://schemas.microsoft.com/office/drawing/2014/main" id="{FFC87433-0D32-C73B-E62E-1C70FAB21D2B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2 - scope options, synthetic</a:t>
            </a:r>
          </a:p>
        </p:txBody>
      </p:sp>
      <p:sp>
        <p:nvSpPr>
          <p:cNvPr id="8" name="FooterNote">
            <a:extLst>
              <a:ext uri="{FF2B5EF4-FFF2-40B4-BE49-F238E27FC236}">
                <a16:creationId xmlns:a16="http://schemas.microsoft.com/office/drawing/2014/main" id="{7D21ACB7-E17C-9155-9FF4-D20FC2C07CDF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9" name="FooterPage">
            <a:extLst>
              <a:ext uri="{FF2B5EF4-FFF2-40B4-BE49-F238E27FC236}">
                <a16:creationId xmlns:a16="http://schemas.microsoft.com/office/drawing/2014/main" id="{A2A12934-705C-59CF-BA27-297A8932FBF9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829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57FA-9F67-F5B1-9AD4-3955C496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0"/>
            <a:ext cx="10668000" cy="762000"/>
          </a:xfrm>
        </p:spPr>
        <p:txBody>
          <a:bodyPr/>
          <a:lstStyle/>
          <a:p>
            <a:r>
              <a:rPr lang="en-US"/>
              <a:t>Decisions requested</a:t>
            </a:r>
          </a:p>
        </p:txBody>
      </p:sp>
      <p:sp>
        <p:nvSpPr>
          <p:cNvPr id="3" name="SectionKicker">
            <a:extLst>
              <a:ext uri="{FF2B5EF4-FFF2-40B4-BE49-F238E27FC236}">
                <a16:creationId xmlns:a16="http://schemas.microsoft.com/office/drawing/2014/main" id="{E72F0322-FBCF-C9D2-CFDE-7B43CB88D4E8}"/>
              </a:ext>
            </a:extLst>
          </p:cNvPr>
          <p:cNvSpPr txBox="1"/>
          <p:nvPr/>
        </p:nvSpPr>
        <p:spPr>
          <a:xfrm>
            <a:off x="762000" y="25400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chemeClr val="accent1"/>
                </a:solidFill>
              </a:rPr>
              <a:t>SECTION 04</a:t>
            </a:r>
          </a:p>
        </p:txBody>
      </p:sp>
      <p:sp>
        <p:nvSpPr>
          <p:cNvPr id="4" name="AccentRule">
            <a:extLst>
              <a:ext uri="{FF2B5EF4-FFF2-40B4-BE49-F238E27FC236}">
                <a16:creationId xmlns:a16="http://schemas.microsoft.com/office/drawing/2014/main" id="{6BBAF7D2-86B1-61F8-7628-729BB3583FAC}"/>
              </a:ext>
            </a:extLst>
          </p:cNvPr>
          <p:cNvSpPr/>
          <p:nvPr/>
        </p:nvSpPr>
        <p:spPr>
          <a:xfrm>
            <a:off x="762000" y="4064000"/>
            <a:ext cx="1066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62B"/>
      </a:dk1>
      <a:lt1>
        <a:srgbClr val="FAF9F6"/>
      </a:lt1>
      <a:dk2>
        <a:srgbClr val="14324F"/>
      </a:dk2>
      <a:lt2>
        <a:srgbClr val="DCE3E8"/>
      </a:lt2>
      <a:accent1>
        <a:srgbClr val="1B7F79"/>
      </a:accent1>
      <a:accent2>
        <a:srgbClr val="D97C2B"/>
      </a:accent2>
      <a:accent3>
        <a:srgbClr val="3E5C76"/>
      </a:accent3>
      <a:accent4>
        <a:srgbClr val="8A5A83"/>
      </a:accent4>
      <a:accent5>
        <a:srgbClr val="5E8C61"/>
      </a:accent5>
      <a:accent6>
        <a:srgbClr val="B23A48"/>
      </a:accent6>
      <a:hlink>
        <a:srgbClr val="176B87"/>
      </a:hlink>
      <a:folHlink>
        <a:srgbClr val="6D5D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Digital roadmap briefing</vt:lpstr>
      <vt:lpstr>Portfolio review agenda</vt:lpstr>
      <vt:lpstr>Two initiatives need a scope decision</vt:lpstr>
      <vt:lpstr>Trim scope or extend the timeline</vt:lpstr>
      <vt:lpstr>Decisions requested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2026-07-05T18:35:03Z</dcterms:created>
  <dcterms:modified xsi:type="dcterms:W3CDTF">2026-07-05T18:35:03Z</dcterms:modified>
</cp:coreProperties>
</file>