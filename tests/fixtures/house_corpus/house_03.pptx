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10212-133F-2179-57EE-979E5FB34F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58395E-C25F-E8BA-5D12-65CDB0FA3C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AC84F-2CA8-4B82-3C62-F19531157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5C4CD-12BF-4F3E-B46A-97A986F5409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15467-557B-611B-E860-598FC04C6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01954-DC23-96E2-D4A1-C6BB3CC12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9AC94-EEBA-4253-B672-F3D48A9C4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581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F7AA2-7CD0-E310-8A79-2745DBD72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10C60-3C86-A7AF-E4BE-E4CEB4E95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D1A64-D59F-3B04-A7D7-6C81335A3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5C4CD-12BF-4F3E-B46A-97A986F5409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51C05-D926-4DBB-AB7A-34ED817AF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FB842-F8D5-8130-3543-E3B476B39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9AC94-EEBA-4253-B672-F3D48A9C4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631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E730F-B146-D651-79D2-C84DA31EB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6666B4-B2E0-5F88-CC82-534CC4B29D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9A083-A2D9-715C-46B9-9E93D3058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5C4CD-12BF-4F3E-B46A-97A986F5409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88F55-D429-A06C-D74A-CE0476897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A8BED-FBE7-A1B6-F999-E5E3E176C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9AC94-EEBA-4253-B672-F3D48A9C4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90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3E216-3C85-0F79-6EE6-840656E7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D58FD-F748-1E43-B7E5-CD29E809B0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A5D5EF-7D10-2AB9-D10F-B454BD02F8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C99C98-C76B-5FFA-0AE1-C69D28047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5C4CD-12BF-4F3E-B46A-97A986F5409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896433-D4AB-455D-DC40-674219C8D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E65EB6-C1CF-EB45-3159-8E65A5C89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9AC94-EEBA-4253-B672-F3D48A9C4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207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B84B6-FB51-D929-2876-959A97D8D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9C0E8B-ECB9-339E-2C9F-8C658F3724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E3A481-79D4-8535-BC2F-9697772B93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C0B61C-7227-23CA-A7B8-3F86E5C1CE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990AE8-7CB0-2E17-2100-72975B3EA0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8DE6EC-B4D9-F9B0-41A7-98122602D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5C4CD-12BF-4F3E-B46A-97A986F5409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B89B5C-A8CE-0589-C9B2-9296DA45B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2DE55F-A2D6-2E22-3CAA-0F4D3391B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9AC94-EEBA-4253-B672-F3D48A9C4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05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2C88F-6AF4-2769-FA90-C64B7FB4B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7BE503-0683-5781-82B2-9BA6615D6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5C4CD-12BF-4F3E-B46A-97A986F5409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DB156A-996D-519E-D71A-E71A7F0E2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08FAA9-6AFD-3793-126D-A31CB0424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9AC94-EEBA-4253-B672-F3D48A9C4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3F738C-CE0B-6C63-22A0-E8F86F6D1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5C4CD-12BF-4F3E-B46A-97A986F5409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BDF8AD-7969-C093-FC3C-03C817DA6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03E05F-7429-68DD-4790-312C1289C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9AC94-EEBA-4253-B672-F3D48A9C4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423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39B77-8C7B-2019-FA66-17B1F0DB1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EADD8-6A19-0C7C-72F3-E2DE7F26B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32F2BB-5A51-9B19-8BC7-D698329EAF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3D263B-3EA2-4589-D97A-EC725F6C3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5C4CD-12BF-4F3E-B46A-97A986F5409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9A1E22-B3C7-82BA-E5E7-5E95BC7EB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4EF99E-BCBC-48A0-AB2D-1730774DE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9AC94-EEBA-4253-B672-F3D48A9C4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335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E8417-E508-5E8F-8500-B4B8F00C4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86BA21-E802-69AE-92AF-0D0C31ACE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85A763-9CAE-F282-447D-162010BB7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6B88B9-6081-2A99-2F02-5F64DEDEB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5C4CD-12BF-4F3E-B46A-97A986F5409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614DB3-C159-4FF6-51D5-33AB801D9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E0F848-CA7A-84EC-6B7F-9F452BFFE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9AC94-EEBA-4253-B672-F3D48A9C4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313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95883-4EAE-FB2A-F676-52E3300F5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C419A0-65A8-3A95-099C-705415B82F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40A57-7C71-11FB-CBF4-904AACA7E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5C4CD-12BF-4F3E-B46A-97A986F5409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D5ED2-76B9-8E54-E3D2-010D40056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450649-8B27-AC98-BE09-8EE0DCE1C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9AC94-EEBA-4253-B672-F3D48A9C4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738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9CD69E-5891-E6BC-0A2B-B98CAFFCD6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271F90-8B17-4BEF-26A9-B2589E87AA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95D3C8-71DB-48CE-92D3-9A9AC7EAF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5C4CD-12BF-4F3E-B46A-97A986F5409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1D312-1840-E1F9-F83B-0DE14F7FA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2570A-8483-BD02-1EFD-DA02438D4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9AC94-EEBA-4253-B672-F3D48A9C4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935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eridianHous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5145CF-8A60-A3A9-CDDA-93BFDA795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1000"/>
            <a:ext cx="106680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9B6FDE-4DE6-B3F5-F0F1-17113E89CB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524000"/>
            <a:ext cx="10668000" cy="304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D859F-B72E-62F8-0509-5A58614E39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D5C4CD-12BF-4F3E-B46A-97A986F5409B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B44425-960A-1691-F16A-BFFD7812E1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DA3AC-4953-B45D-5749-B35BB51383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89AC94-EEBA-4253-B672-F3D48A9C4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870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0" kern="1200">
          <a:solidFill>
            <a:schemeClr val="dk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200"/>
        </a:spcBef>
        <a:spcAft>
          <a:spcPts val="800"/>
        </a:spcAft>
        <a:buSzPct val="95000"/>
        <a:buFont typeface="Arial" panose="020B0604020202020204" pitchFamily="34" charset="0"/>
        <a:buChar char="—"/>
        <a:defRPr sz="1400" kern="1200">
          <a:solidFill>
            <a:schemeClr val="dk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200"/>
        </a:spcBef>
        <a:spcAft>
          <a:spcPts val="500"/>
        </a:spcAft>
        <a:buSzPct val="90000"/>
        <a:buFont typeface="Arial" panose="020B0604020202020204" pitchFamily="34" charset="0"/>
        <a:buChar char="·"/>
        <a:defRPr sz="1100" kern="1200">
          <a:solidFill>
            <a:schemeClr val="dk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100"/>
        </a:spcBef>
        <a:spcAft>
          <a:spcPts val="400"/>
        </a:spcAft>
        <a:buSzPct val="90000"/>
        <a:buFont typeface="Arial" panose="020B0604020202020204" pitchFamily="34" charset="0"/>
        <a:buChar char="&gt;"/>
        <a:defRPr sz="1100" kern="1200">
          <a:solidFill>
            <a:schemeClr val="dk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F5E11-53D2-CE95-6C18-51B45A273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286000"/>
            <a:ext cx="10668000" cy="889000"/>
          </a:xfrm>
        </p:spPr>
        <p:txBody>
          <a:bodyPr/>
          <a:lstStyle/>
          <a:p>
            <a:r>
              <a:rPr lang="en-US"/>
              <a:t>Pricing program update</a:t>
            </a:r>
          </a:p>
        </p:txBody>
      </p:sp>
      <p:sp>
        <p:nvSpPr>
          <p:cNvPr id="3" name="TitleRule">
            <a:extLst>
              <a:ext uri="{FF2B5EF4-FFF2-40B4-BE49-F238E27FC236}">
                <a16:creationId xmlns:a16="http://schemas.microsoft.com/office/drawing/2014/main" id="{1D077157-F232-6EBF-1F8F-6E910555EC8E}"/>
              </a:ext>
            </a:extLst>
          </p:cNvPr>
          <p:cNvSpPr/>
          <p:nvPr/>
        </p:nvSpPr>
        <p:spPr>
          <a:xfrm>
            <a:off x="762000" y="1905000"/>
            <a:ext cx="3048000" cy="762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ubtitleBox">
            <a:extLst>
              <a:ext uri="{FF2B5EF4-FFF2-40B4-BE49-F238E27FC236}">
                <a16:creationId xmlns:a16="http://schemas.microsoft.com/office/drawing/2014/main" id="{4135EE83-524B-0F4B-71B1-B249F3511114}"/>
              </a:ext>
            </a:extLst>
          </p:cNvPr>
          <p:cNvSpPr txBox="1"/>
          <p:nvPr/>
        </p:nvSpPr>
        <p:spPr>
          <a:xfrm>
            <a:off x="762000" y="3429000"/>
            <a:ext cx="6858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>
                <a:solidFill>
                  <a:schemeClr val="accent3"/>
                </a:solidFill>
              </a:rPr>
              <a:t>Monthly steering committee readout</a:t>
            </a:r>
          </a:p>
        </p:txBody>
      </p:sp>
    </p:spTree>
    <p:extLst>
      <p:ext uri="{BB962C8B-B14F-4D97-AF65-F5344CB8AC3E}">
        <p14:creationId xmlns:p14="http://schemas.microsoft.com/office/powerpoint/2010/main" val="2774253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80E86-8BA3-E53F-0749-0D91F7B0E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1000"/>
            <a:ext cx="10668000" cy="762000"/>
          </a:xfrm>
        </p:spPr>
        <p:txBody>
          <a:bodyPr/>
          <a:lstStyle/>
          <a:p>
            <a:r>
              <a:rPr lang="en-US"/>
              <a:t>Program status at a glance</a:t>
            </a:r>
          </a:p>
        </p:txBody>
      </p:sp>
      <p:sp>
        <p:nvSpPr>
          <p:cNvPr id="3" name="BodyContent">
            <a:extLst>
              <a:ext uri="{FF2B5EF4-FFF2-40B4-BE49-F238E27FC236}">
                <a16:creationId xmlns:a16="http://schemas.microsoft.com/office/drawing/2014/main" id="{D08BE5AE-D5C9-D0AD-1EBC-97F2EC1C8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524000"/>
            <a:ext cx="6858000" cy="4191000"/>
          </a:xfrm>
        </p:spPr>
        <p:txBody>
          <a:bodyPr/>
          <a:lstStyle/>
          <a:p>
            <a:r>
              <a:rPr lang="en-US"/>
              <a:t>Wave one results against target</a:t>
            </a:r>
          </a:p>
          <a:p>
            <a:r>
              <a:rPr lang="en-US"/>
              <a:t>Wave two pilot readiness</a:t>
            </a:r>
          </a:p>
          <a:p>
            <a:r>
              <a:rPr lang="en-US"/>
              <a:t>Risks and mitigations</a:t>
            </a:r>
          </a:p>
          <a:p>
            <a:r>
              <a:rPr lang="en-US"/>
              <a:t>Asks of the steering committee</a:t>
            </a:r>
          </a:p>
        </p:txBody>
      </p:sp>
      <p:pic>
        <p:nvPicPr>
          <p:cNvPr id="5" name="SidebarExhibit">
            <a:extLst>
              <a:ext uri="{FF2B5EF4-FFF2-40B4-BE49-F238E27FC236}">
                <a16:creationId xmlns:a16="http://schemas.microsoft.com/office/drawing/2014/main" id="{99E070FD-C8A4-1D56-69A5-66E5884DEFD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1524000"/>
            <a:ext cx="3048000" cy="2286000"/>
          </a:xfrm>
          <a:prstGeom prst="rect">
            <a:avLst/>
          </a:prstGeom>
        </p:spPr>
      </p:pic>
      <p:sp>
        <p:nvSpPr>
          <p:cNvPr id="6" name="SidebarCaption">
            <a:extLst>
              <a:ext uri="{FF2B5EF4-FFF2-40B4-BE49-F238E27FC236}">
                <a16:creationId xmlns:a16="http://schemas.microsoft.com/office/drawing/2014/main" id="{92BB8203-B381-7897-54EA-44B0184AEEB1}"/>
              </a:ext>
            </a:extLst>
          </p:cNvPr>
          <p:cNvSpPr txBox="1"/>
          <p:nvPr/>
        </p:nvSpPr>
        <p:spPr>
          <a:xfrm>
            <a:off x="8382000" y="4000500"/>
            <a:ext cx="3048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i="1">
                <a:solidFill>
                  <a:schemeClr val="accent3"/>
                </a:solidFill>
              </a:rPr>
              <a:t>Exhibit 1 - realized uplift, synthetic</a:t>
            </a:r>
          </a:p>
        </p:txBody>
      </p:sp>
      <p:sp>
        <p:nvSpPr>
          <p:cNvPr id="7" name="FooterNote">
            <a:extLst>
              <a:ext uri="{FF2B5EF4-FFF2-40B4-BE49-F238E27FC236}">
                <a16:creationId xmlns:a16="http://schemas.microsoft.com/office/drawing/2014/main" id="{8FA53E66-7834-80D4-00E8-A224546FF18C}"/>
              </a:ext>
            </a:extLst>
          </p:cNvPr>
          <p:cNvSpPr txBox="1"/>
          <p:nvPr/>
        </p:nvSpPr>
        <p:spPr>
          <a:xfrm>
            <a:off x="762000" y="6375400"/>
            <a:ext cx="381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chemeClr val="accent3"/>
                </a:solidFill>
              </a:rPr>
              <a:t>Meridian Advisory | synthetic corpus</a:t>
            </a:r>
          </a:p>
        </p:txBody>
      </p:sp>
      <p:sp>
        <p:nvSpPr>
          <p:cNvPr id="8" name="FooterPage">
            <a:extLst>
              <a:ext uri="{FF2B5EF4-FFF2-40B4-BE49-F238E27FC236}">
                <a16:creationId xmlns:a16="http://schemas.microsoft.com/office/drawing/2014/main" id="{7DC2D785-062C-C904-6F6E-CFD9C57C1AEC}"/>
              </a:ext>
            </a:extLst>
          </p:cNvPr>
          <p:cNvSpPr txBox="1"/>
          <p:nvPr/>
        </p:nvSpPr>
        <p:spPr>
          <a:xfrm>
            <a:off x="9906000" y="6375400"/>
            <a:ext cx="152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100">
                <a:solidFill>
                  <a:schemeClr val="accent3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065264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40DEB-450D-0C1E-0558-D55B7E1FD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1000"/>
            <a:ext cx="10668000" cy="762000"/>
          </a:xfrm>
        </p:spPr>
        <p:txBody>
          <a:bodyPr/>
          <a:lstStyle/>
          <a:p>
            <a:r>
              <a:rPr lang="en-US"/>
              <a:t>Wave one delivered above the uplift target</a:t>
            </a:r>
          </a:p>
        </p:txBody>
      </p:sp>
      <p:sp>
        <p:nvSpPr>
          <p:cNvPr id="3" name="BodyContent">
            <a:extLst>
              <a:ext uri="{FF2B5EF4-FFF2-40B4-BE49-F238E27FC236}">
                <a16:creationId xmlns:a16="http://schemas.microsoft.com/office/drawing/2014/main" id="{F1876FD8-46AF-DD2A-9E3A-BA5B030DC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524000"/>
            <a:ext cx="10668000" cy="3048000"/>
          </a:xfrm>
        </p:spPr>
        <p:txBody>
          <a:bodyPr/>
          <a:lstStyle/>
          <a:p>
            <a:r>
              <a:rPr lang="en-US"/>
              <a:t>Realized uplift reached the top of the range</a:t>
            </a:r>
          </a:p>
          <a:p>
            <a:pPr lvl="1"/>
            <a:r>
              <a:rPr lang="en-US"/>
              <a:t>List price moves landed with low churn</a:t>
            </a:r>
          </a:p>
          <a:p>
            <a:pPr lvl="1"/>
            <a:r>
              <a:rPr lang="en-US"/>
              <a:t>Discount discipline held in both regions</a:t>
            </a:r>
          </a:p>
          <a:p>
            <a:r>
              <a:rPr lang="en-US"/>
              <a:t>Win rates stayed inside the guardrail</a:t>
            </a:r>
          </a:p>
          <a:p>
            <a:pPr lvl="2"/>
            <a:r>
              <a:rPr lang="en-US"/>
              <a:t>Two accounts required manual exceptions</a:t>
            </a:r>
          </a:p>
        </p:txBody>
      </p:sp>
      <p:sp>
        <p:nvSpPr>
          <p:cNvPr id="4" name="TakeawayPanel">
            <a:extLst>
              <a:ext uri="{FF2B5EF4-FFF2-40B4-BE49-F238E27FC236}">
                <a16:creationId xmlns:a16="http://schemas.microsoft.com/office/drawing/2014/main" id="{014B11CF-E8A7-D872-F511-5FDD9D6E4359}"/>
              </a:ext>
            </a:extLst>
          </p:cNvPr>
          <p:cNvSpPr/>
          <p:nvPr/>
        </p:nvSpPr>
        <p:spPr>
          <a:xfrm>
            <a:off x="762000" y="4826000"/>
            <a:ext cx="10668000" cy="889000"/>
          </a:xfrm>
          <a:prstGeom prst="roundRect">
            <a:avLst>
              <a:gd name="adj" fmla="val 12000"/>
            </a:avLst>
          </a:prstGeom>
          <a:solidFill>
            <a:srgbClr val="DCE3E8"/>
          </a:solidFill>
          <a:ln w="15875">
            <a:solidFill>
              <a:srgbClr val="14324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>
                <a:solidFill>
                  <a:schemeClr val="dk1"/>
                </a:solidFill>
              </a:rPr>
              <a:t>Key takeaway</a:t>
            </a:r>
          </a:p>
          <a:p>
            <a:r>
              <a:rPr lang="en-US" sz="1400">
                <a:solidFill>
                  <a:schemeClr val="dk1"/>
                </a:solidFill>
              </a:rPr>
              <a:t>Wave one economics validate the playbook for the next two waves</a:t>
            </a:r>
          </a:p>
        </p:txBody>
      </p:sp>
      <p:sp>
        <p:nvSpPr>
          <p:cNvPr id="5" name="FooterNote">
            <a:extLst>
              <a:ext uri="{FF2B5EF4-FFF2-40B4-BE49-F238E27FC236}">
                <a16:creationId xmlns:a16="http://schemas.microsoft.com/office/drawing/2014/main" id="{67940E33-B7FE-B5D5-4B74-360613FD8794}"/>
              </a:ext>
            </a:extLst>
          </p:cNvPr>
          <p:cNvSpPr txBox="1"/>
          <p:nvPr/>
        </p:nvSpPr>
        <p:spPr>
          <a:xfrm>
            <a:off x="762000" y="6375400"/>
            <a:ext cx="381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chemeClr val="accent3"/>
                </a:solidFill>
              </a:rPr>
              <a:t>Meridian Advisory | synthetic corpus</a:t>
            </a:r>
          </a:p>
        </p:txBody>
      </p:sp>
      <p:sp>
        <p:nvSpPr>
          <p:cNvPr id="6" name="FooterPage">
            <a:extLst>
              <a:ext uri="{FF2B5EF4-FFF2-40B4-BE49-F238E27FC236}">
                <a16:creationId xmlns:a16="http://schemas.microsoft.com/office/drawing/2014/main" id="{09483AED-CA16-BFBD-5A40-FED7A70014E7}"/>
              </a:ext>
            </a:extLst>
          </p:cNvPr>
          <p:cNvSpPr txBox="1"/>
          <p:nvPr/>
        </p:nvSpPr>
        <p:spPr>
          <a:xfrm>
            <a:off x="9906000" y="6375400"/>
            <a:ext cx="152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100">
                <a:solidFill>
                  <a:schemeClr val="accent3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23744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1E1F3-E78F-8D1F-F302-BA444CA23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1000"/>
            <a:ext cx="10668000" cy="762000"/>
          </a:xfrm>
        </p:spPr>
        <p:txBody>
          <a:bodyPr/>
          <a:lstStyle/>
          <a:p>
            <a:r>
              <a:rPr lang="en-US"/>
              <a:t>Wave two pilots start in two markets</a:t>
            </a:r>
          </a:p>
        </p:txBody>
      </p:sp>
      <p:sp>
        <p:nvSpPr>
          <p:cNvPr id="3" name="BodyContent">
            <a:extLst>
              <a:ext uri="{FF2B5EF4-FFF2-40B4-BE49-F238E27FC236}">
                <a16:creationId xmlns:a16="http://schemas.microsoft.com/office/drawing/2014/main" id="{1615BC37-A490-AA8C-567C-519A53732B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524000"/>
            <a:ext cx="10668000" cy="3048000"/>
          </a:xfrm>
        </p:spPr>
        <p:txBody>
          <a:bodyPr/>
          <a:lstStyle/>
          <a:p>
            <a:r>
              <a:rPr lang="en-US"/>
              <a:t>Pilot markets chosen for contract mix</a:t>
            </a:r>
          </a:p>
          <a:p>
            <a:pPr lvl="1"/>
            <a:r>
              <a:rPr lang="en-US"/>
              <a:t>Renewal-heavy book in the first market</a:t>
            </a:r>
          </a:p>
          <a:p>
            <a:pPr lvl="1"/>
            <a:r>
              <a:rPr lang="en-US"/>
              <a:t>New-logo-heavy book in the second</a:t>
            </a:r>
          </a:p>
          <a:p>
            <a:r>
              <a:rPr lang="en-US"/>
              <a:t>Playbook adapted for channel partners</a:t>
            </a:r>
          </a:p>
          <a:p>
            <a:pPr lvl="1"/>
            <a:r>
              <a:rPr lang="en-US"/>
              <a:t>Partner margin floor stays unchanged</a:t>
            </a:r>
          </a:p>
        </p:txBody>
      </p:sp>
      <p:sp>
        <p:nvSpPr>
          <p:cNvPr id="4" name="TakeawayPanel">
            <a:extLst>
              <a:ext uri="{FF2B5EF4-FFF2-40B4-BE49-F238E27FC236}">
                <a16:creationId xmlns:a16="http://schemas.microsoft.com/office/drawing/2014/main" id="{C7995D1F-A8FC-8B00-768E-B55C3882EEBE}"/>
              </a:ext>
            </a:extLst>
          </p:cNvPr>
          <p:cNvSpPr/>
          <p:nvPr/>
        </p:nvSpPr>
        <p:spPr>
          <a:xfrm>
            <a:off x="762000" y="4826000"/>
            <a:ext cx="10668000" cy="889000"/>
          </a:xfrm>
          <a:prstGeom prst="roundRect">
            <a:avLst>
              <a:gd name="adj" fmla="val 12000"/>
            </a:avLst>
          </a:prstGeom>
          <a:solidFill>
            <a:srgbClr val="DCE3E8"/>
          </a:solidFill>
          <a:ln w="15875">
            <a:solidFill>
              <a:srgbClr val="14324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>
                <a:solidFill>
                  <a:schemeClr val="dk1"/>
                </a:solidFill>
              </a:rPr>
              <a:t>Key takeaway</a:t>
            </a:r>
          </a:p>
          <a:p>
            <a:r>
              <a:rPr lang="en-US" sz="1400">
                <a:solidFill>
                  <a:schemeClr val="dk1"/>
                </a:solidFill>
              </a:rPr>
              <a:t>Pilot design isolates the two contract archetypes before full rollout</a:t>
            </a:r>
          </a:p>
        </p:txBody>
      </p:sp>
      <p:sp>
        <p:nvSpPr>
          <p:cNvPr id="5" name="FooterNote">
            <a:extLst>
              <a:ext uri="{FF2B5EF4-FFF2-40B4-BE49-F238E27FC236}">
                <a16:creationId xmlns:a16="http://schemas.microsoft.com/office/drawing/2014/main" id="{51ABF8E5-D400-FA81-D523-EA2FCE58D784}"/>
              </a:ext>
            </a:extLst>
          </p:cNvPr>
          <p:cNvSpPr txBox="1"/>
          <p:nvPr/>
        </p:nvSpPr>
        <p:spPr>
          <a:xfrm>
            <a:off x="762000" y="6375400"/>
            <a:ext cx="381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chemeClr val="accent3"/>
                </a:solidFill>
              </a:rPr>
              <a:t>Meridian Advisory | synthetic corpus</a:t>
            </a:r>
          </a:p>
        </p:txBody>
      </p:sp>
      <p:sp>
        <p:nvSpPr>
          <p:cNvPr id="6" name="FooterPage">
            <a:extLst>
              <a:ext uri="{FF2B5EF4-FFF2-40B4-BE49-F238E27FC236}">
                <a16:creationId xmlns:a16="http://schemas.microsoft.com/office/drawing/2014/main" id="{6E0D14B6-448C-A90B-0052-A7B58CD8B059}"/>
              </a:ext>
            </a:extLst>
          </p:cNvPr>
          <p:cNvSpPr txBox="1"/>
          <p:nvPr/>
        </p:nvSpPr>
        <p:spPr>
          <a:xfrm>
            <a:off x="9906000" y="6375400"/>
            <a:ext cx="152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100">
                <a:solidFill>
                  <a:schemeClr val="accent3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011257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8C450-863F-6EC6-E64B-E3DE0AF3B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1000"/>
            <a:ext cx="10668000" cy="762000"/>
          </a:xfrm>
        </p:spPr>
        <p:txBody>
          <a:bodyPr/>
          <a:lstStyle/>
          <a:p>
            <a:r>
              <a:rPr lang="en-US"/>
              <a:t>Escalate or hold the exception policy</a:t>
            </a:r>
          </a:p>
        </p:txBody>
      </p:sp>
      <p:sp>
        <p:nvSpPr>
          <p:cNvPr id="3" name="ColumnPanelLeft">
            <a:extLst>
              <a:ext uri="{FF2B5EF4-FFF2-40B4-BE49-F238E27FC236}">
                <a16:creationId xmlns:a16="http://schemas.microsoft.com/office/drawing/2014/main" id="{95D92BC9-507F-71CD-6705-1219276A073D}"/>
              </a:ext>
            </a:extLst>
          </p:cNvPr>
          <p:cNvSpPr/>
          <p:nvPr/>
        </p:nvSpPr>
        <p:spPr>
          <a:xfrm>
            <a:off x="762000" y="1524000"/>
            <a:ext cx="3048000" cy="3810000"/>
          </a:xfrm>
          <a:prstGeom prst="roundRect">
            <a:avLst>
              <a:gd name="adj" fmla="val 12000"/>
            </a:avLst>
          </a:prstGeom>
          <a:solidFill>
            <a:srgbClr val="DCE3E8"/>
          </a:solidFill>
          <a:ln w="15875">
            <a:solidFill>
              <a:srgbClr val="14324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>
                <a:solidFill>
                  <a:schemeClr val="dk1"/>
                </a:solidFill>
              </a:rPr>
              <a:t>Hold policy</a:t>
            </a:r>
          </a:p>
          <a:p>
            <a:r>
              <a:rPr lang="en-US" sz="1400">
                <a:solidFill>
                  <a:schemeClr val="dk1"/>
                </a:solidFill>
              </a:rPr>
              <a:t>Preserves price integrity</a:t>
            </a:r>
          </a:p>
          <a:p>
            <a:r>
              <a:rPr lang="en-US" sz="1400">
                <a:solidFill>
                  <a:schemeClr val="dk1"/>
                </a:solidFill>
              </a:rPr>
              <a:t>Risks two flagship renewals</a:t>
            </a:r>
          </a:p>
          <a:p>
            <a:r>
              <a:rPr lang="en-US" sz="1400">
                <a:solidFill>
                  <a:schemeClr val="dk1"/>
                </a:solidFill>
              </a:rPr>
              <a:t>Simple to communicate</a:t>
            </a:r>
          </a:p>
        </p:txBody>
      </p:sp>
      <p:sp>
        <p:nvSpPr>
          <p:cNvPr id="4" name="ColumnPanelRight">
            <a:extLst>
              <a:ext uri="{FF2B5EF4-FFF2-40B4-BE49-F238E27FC236}">
                <a16:creationId xmlns:a16="http://schemas.microsoft.com/office/drawing/2014/main" id="{A37712A7-5245-D582-2304-B872E010DF1A}"/>
              </a:ext>
            </a:extLst>
          </p:cNvPr>
          <p:cNvSpPr/>
          <p:nvPr/>
        </p:nvSpPr>
        <p:spPr>
          <a:xfrm>
            <a:off x="4572000" y="1524000"/>
            <a:ext cx="3048000" cy="3810000"/>
          </a:xfrm>
          <a:prstGeom prst="roundRect">
            <a:avLst>
              <a:gd name="adj" fmla="val 12000"/>
            </a:avLst>
          </a:prstGeom>
          <a:solidFill>
            <a:srgbClr val="DCE3E8"/>
          </a:solidFill>
          <a:ln w="15875">
            <a:solidFill>
              <a:srgbClr val="14324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>
                <a:solidFill>
                  <a:schemeClr val="dk1"/>
                </a:solidFill>
              </a:rPr>
              <a:t>Escalate</a:t>
            </a:r>
          </a:p>
          <a:p>
            <a:r>
              <a:rPr lang="en-US" sz="1400">
                <a:solidFill>
                  <a:schemeClr val="dk1"/>
                </a:solidFill>
              </a:rPr>
              <a:t>Retains the flagship logos</a:t>
            </a:r>
          </a:p>
          <a:p>
            <a:r>
              <a:rPr lang="en-US" sz="1400">
                <a:solidFill>
                  <a:schemeClr val="dk1"/>
                </a:solidFill>
              </a:rPr>
              <a:t>Signals flexibility to the field</a:t>
            </a:r>
          </a:p>
          <a:p>
            <a:r>
              <a:rPr lang="en-US" sz="1400">
                <a:solidFill>
                  <a:schemeClr val="dk1"/>
                </a:solidFill>
              </a:rPr>
              <a:t>Requires deal desk review</a:t>
            </a:r>
          </a:p>
        </p:txBody>
      </p:sp>
      <p:pic>
        <p:nvPicPr>
          <p:cNvPr id="6" name="SidebarExhibit">
            <a:extLst>
              <a:ext uri="{FF2B5EF4-FFF2-40B4-BE49-F238E27FC236}">
                <a16:creationId xmlns:a16="http://schemas.microsoft.com/office/drawing/2014/main" id="{73F4C15A-92CF-F2CC-317C-09347E0DE6D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1524000"/>
            <a:ext cx="3048000" cy="2286000"/>
          </a:xfrm>
          <a:prstGeom prst="rect">
            <a:avLst/>
          </a:prstGeom>
        </p:spPr>
      </p:pic>
      <p:sp>
        <p:nvSpPr>
          <p:cNvPr id="7" name="SidebarCaption">
            <a:extLst>
              <a:ext uri="{FF2B5EF4-FFF2-40B4-BE49-F238E27FC236}">
                <a16:creationId xmlns:a16="http://schemas.microsoft.com/office/drawing/2014/main" id="{0318AEAC-6FB0-3AAF-84C5-7FDE830A87FF}"/>
              </a:ext>
            </a:extLst>
          </p:cNvPr>
          <p:cNvSpPr txBox="1"/>
          <p:nvPr/>
        </p:nvSpPr>
        <p:spPr>
          <a:xfrm>
            <a:off x="8382000" y="4000500"/>
            <a:ext cx="3048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i="1">
                <a:solidFill>
                  <a:schemeClr val="accent3"/>
                </a:solidFill>
              </a:rPr>
              <a:t>Exhibit 2 - exception volume, synthetic</a:t>
            </a:r>
          </a:p>
        </p:txBody>
      </p:sp>
      <p:sp>
        <p:nvSpPr>
          <p:cNvPr id="8" name="FooterNote">
            <a:extLst>
              <a:ext uri="{FF2B5EF4-FFF2-40B4-BE49-F238E27FC236}">
                <a16:creationId xmlns:a16="http://schemas.microsoft.com/office/drawing/2014/main" id="{64124325-6AE6-FD6C-5F47-B971F6573BF5}"/>
              </a:ext>
            </a:extLst>
          </p:cNvPr>
          <p:cNvSpPr txBox="1"/>
          <p:nvPr/>
        </p:nvSpPr>
        <p:spPr>
          <a:xfrm>
            <a:off x="762000" y="6375400"/>
            <a:ext cx="381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chemeClr val="accent3"/>
                </a:solidFill>
              </a:rPr>
              <a:t>Meridian Advisory | synthetic corpus</a:t>
            </a:r>
          </a:p>
        </p:txBody>
      </p:sp>
      <p:sp>
        <p:nvSpPr>
          <p:cNvPr id="9" name="FooterPage">
            <a:extLst>
              <a:ext uri="{FF2B5EF4-FFF2-40B4-BE49-F238E27FC236}">
                <a16:creationId xmlns:a16="http://schemas.microsoft.com/office/drawing/2014/main" id="{088A63F7-06B4-6EB8-82F1-97C86C94A85F}"/>
              </a:ext>
            </a:extLst>
          </p:cNvPr>
          <p:cNvSpPr txBox="1"/>
          <p:nvPr/>
        </p:nvSpPr>
        <p:spPr>
          <a:xfrm>
            <a:off x="9906000" y="6375400"/>
            <a:ext cx="152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100">
                <a:solidFill>
                  <a:schemeClr val="accent3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372097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20262B"/>
      </a:dk1>
      <a:lt1>
        <a:srgbClr val="FAF9F6"/>
      </a:lt1>
      <a:dk2>
        <a:srgbClr val="14324F"/>
      </a:dk2>
      <a:lt2>
        <a:srgbClr val="DCE3E8"/>
      </a:lt2>
      <a:accent1>
        <a:srgbClr val="1B7F79"/>
      </a:accent1>
      <a:accent2>
        <a:srgbClr val="D97C2B"/>
      </a:accent2>
      <a:accent3>
        <a:srgbClr val="3E5C76"/>
      </a:accent3>
      <a:accent4>
        <a:srgbClr val="8A5A83"/>
      </a:accent4>
      <a:accent5>
        <a:srgbClr val="5E8C61"/>
      </a:accent5>
      <a:accent6>
        <a:srgbClr val="B23A48"/>
      </a:accent6>
      <a:hlink>
        <a:srgbClr val="176B87"/>
      </a:hlink>
      <a:folHlink>
        <a:srgbClr val="6D5D8F"/>
      </a:folHlink>
    </a:clrScheme>
    <a:fontScheme name="Office">
      <a:majorFont>
        <a:latin typeface="Georgia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</Words>
  <Application>Microsoft Office PowerPoint</Application>
  <PresentationFormat>Widescreen</PresentationFormat>
  <Paragraphs>42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Georgia</vt:lpstr>
      <vt:lpstr>Office Theme</vt:lpstr>
      <vt:lpstr>Pricing program update</vt:lpstr>
      <vt:lpstr>Program status at a glance</vt:lpstr>
      <vt:lpstr>Wave one delivered above the uplift target</vt:lpstr>
      <vt:lpstr>Wave two pilots start in two markets</vt:lpstr>
      <vt:lpstr>Escalate or hold the exception policy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 Timmons</dc:creator>
  <cp:lastModifiedBy>Matt Timmons</cp:lastModifiedBy>
  <cp:revision>1</cp:revision>
  <dcterms:created xsi:type="dcterms:W3CDTF">2026-07-05T18:35:00Z</dcterms:created>
  <dcterms:modified xsi:type="dcterms:W3CDTF">2026-07-05T18:35:00Z</dcterms:modified>
</cp:coreProperties>
</file>