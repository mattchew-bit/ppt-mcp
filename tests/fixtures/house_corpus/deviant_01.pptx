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7BC9B-DC6E-EC2C-64E8-E8A9EF3D68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CE26BD-5BA7-AC2F-CE24-116D638E8F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EDA34B-71F3-BF31-00C6-9BC049A4B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33552-A0F5-4D06-A657-2997C42E3F26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B2A165-5150-3A01-58EA-986A199FB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6D30A-ED2F-3521-D699-74F42D96C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559F-C5E2-4ADF-AC89-F73642338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413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45877-9B53-E373-248E-CA5115104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42A6B-626E-34FA-B2E6-2323E90A20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0539D-8F13-6271-5694-FF4BBF3E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33552-A0F5-4D06-A657-2997C42E3F26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027999-3A47-9B91-9CA3-803F74AA7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41BEA-6C0A-C0C3-757D-C3303CE8E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559F-C5E2-4ADF-AC89-F73642338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040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7638F-6FE4-7FC4-C6A4-3AF8DAE7D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2F89D-D399-F961-0FEB-2F00E2CC28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DC4FD-BE6E-6060-8664-0C75261D7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33552-A0F5-4D06-A657-2997C42E3F26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D9508-8363-2699-0962-AEA4AB649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6B6FF-741B-39D6-6698-372859208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559F-C5E2-4ADF-AC89-F73642338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656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E7B24-67F9-27A9-11B8-95B3B5160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11C47-2AAF-3A1F-CDC7-42AB60044E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7D4285-542D-0B62-8C31-70EF44E834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787BF3-2A20-3995-521F-3A4AD60EF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33552-A0F5-4D06-A657-2997C42E3F26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7CED09-BCC3-D36A-0FAD-706DFBA56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B803A4-B39A-FF0C-5DDF-D6B836E92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559F-C5E2-4ADF-AC89-F73642338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258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67299-D63D-E5E9-ABEA-AF0E3A8BB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E382B2-9201-F150-CA31-F75B92A1DE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B41CC2-47A6-F231-55D0-65542B03FD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B71723-83A4-E0CF-2CB6-39F411BCDA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CC4355-CC40-30B7-020B-2747F2E849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8A6CC3-64AC-13FB-0316-A90D6D73F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33552-A0F5-4D06-A657-2997C42E3F26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0EF65B-4669-D87B-2D27-E5838101A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21E2CA-4294-EAB5-E19C-039D41567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559F-C5E2-4ADF-AC89-F73642338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643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781F8-1F2B-BFF9-DEC6-10DCC86E4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46D6C-D420-B542-9ED4-D868A6DA1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33552-A0F5-4D06-A657-2997C42E3F26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C870A9-9246-58A4-DB90-8518BA55B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982E20-F99D-5851-40C9-7ADFCE96B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559F-C5E2-4ADF-AC89-F73642338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271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B33332-BD2B-8268-6012-501F9F5E7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33552-A0F5-4D06-A657-2997C42E3F26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E92015-7662-08B2-7C95-620154D7E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713B9-C04D-E681-707D-D9777A480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559F-C5E2-4ADF-AC89-F73642338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245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4E204-9DDB-23B8-93C6-D09E5A7F1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472F5-D295-FFC4-8874-2D8425E2C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AC43F0-FFC8-DD01-8D86-A6F0B4B257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6F7F4E-D36F-797A-AF95-C32F10633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33552-A0F5-4D06-A657-2997C42E3F26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81B6C4-6D4B-E4D7-3909-F7B47F000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F418F-EEA9-D52F-A268-2E4B467A1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559F-C5E2-4ADF-AC89-F73642338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460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DE0A7-DFFC-8CB9-E72B-BC180433C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1CBD1-625E-340C-8E95-5AFA1A84EC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63A60B-0BEF-F06A-1923-543DC8CCB6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915AEA-44B4-D833-8794-A6C5E8B7D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33552-A0F5-4D06-A657-2997C42E3F26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7CFC2B-50EA-F4BC-31C8-E091C2D59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4D8D91-91AE-DBC1-BB3A-C8EC621AE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559F-C5E2-4ADF-AC89-F73642338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37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C6EFC-E0F2-3EAA-EFCB-461A4D842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3A742D-EE9E-51C8-A0D0-F09AB64E7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DF2AB-DA6C-B5D6-B189-CDC7DBDAF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33552-A0F5-4D06-A657-2997C42E3F26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EEBB7-59D3-E476-3E47-1FBAE9BE4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AA64F5-036D-5505-16DE-E6D8689AA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559F-C5E2-4ADF-AC89-F73642338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183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57AD02-E8DD-3D6E-D021-CAFE426181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D3E0FF-8A00-2374-5B00-FA833F8DCF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3E8347-EE63-E5E5-CBBA-7BE3B6676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33552-A0F5-4D06-A657-2997C42E3F26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4B682-B1FA-B7DB-74D3-1DF4494F2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93198-8AB5-AD15-026C-89E7D94E0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9559F-C5E2-4ADF-AC89-F73642338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023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eridianHous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91AFC1-E6BD-A132-67BF-96265FEF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1000"/>
            <a:ext cx="106680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6223A9-EA41-3242-838A-9834056637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524000"/>
            <a:ext cx="10668000" cy="304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0F84B4-AF96-F390-C8D4-9DCBFF83FC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033552-A0F5-4D06-A657-2997C42E3F26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67B6F-4540-3BBE-8A57-2C3CBF34BA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53809-C7D2-350A-D7DB-81A5D0C43D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79559F-C5E2-4ADF-AC89-F73642338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759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0" kern="1200">
          <a:solidFill>
            <a:schemeClr val="dk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200"/>
        </a:spcBef>
        <a:spcAft>
          <a:spcPts val="800"/>
        </a:spcAft>
        <a:buSzPct val="95000"/>
        <a:buFont typeface="Arial" panose="020B0604020202020204" pitchFamily="34" charset="0"/>
        <a:buChar char="—"/>
        <a:defRPr sz="1400" kern="1200">
          <a:solidFill>
            <a:schemeClr val="dk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200"/>
        </a:spcBef>
        <a:spcAft>
          <a:spcPts val="500"/>
        </a:spcAft>
        <a:buSzPct val="90000"/>
        <a:buFont typeface="Arial" panose="020B0604020202020204" pitchFamily="34" charset="0"/>
        <a:buChar char="·"/>
        <a:defRPr sz="1100" kern="1200">
          <a:solidFill>
            <a:schemeClr val="dk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100"/>
        </a:spcBef>
        <a:spcAft>
          <a:spcPts val="400"/>
        </a:spcAft>
        <a:buSzPct val="90000"/>
        <a:buFont typeface="Arial" panose="020B0604020202020204" pitchFamily="34" charset="0"/>
        <a:buChar char="&gt;"/>
        <a:defRPr sz="1100" kern="1200">
          <a:solidFill>
            <a:schemeClr val="dk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39657-B380-5E6C-805C-E5C1218C3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286000"/>
            <a:ext cx="10668000" cy="889000"/>
          </a:xfrm>
        </p:spPr>
        <p:txBody>
          <a:bodyPr/>
          <a:lstStyle/>
          <a:p>
            <a:r>
              <a:rPr lang="en-US"/>
              <a:t>Regional expansion options</a:t>
            </a:r>
          </a:p>
        </p:txBody>
      </p:sp>
      <p:sp>
        <p:nvSpPr>
          <p:cNvPr id="3" name="TitleRule">
            <a:extLst>
              <a:ext uri="{FF2B5EF4-FFF2-40B4-BE49-F238E27FC236}">
                <a16:creationId xmlns:a16="http://schemas.microsoft.com/office/drawing/2014/main" id="{85E42D5E-040F-C8A3-4EB2-B0CD23972791}"/>
              </a:ext>
            </a:extLst>
          </p:cNvPr>
          <p:cNvSpPr/>
          <p:nvPr/>
        </p:nvSpPr>
        <p:spPr>
          <a:xfrm>
            <a:off x="762000" y="1905000"/>
            <a:ext cx="3048000" cy="762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ubtitleBox">
            <a:extLst>
              <a:ext uri="{FF2B5EF4-FFF2-40B4-BE49-F238E27FC236}">
                <a16:creationId xmlns:a16="http://schemas.microsoft.com/office/drawing/2014/main" id="{E519DA35-790C-501F-E47A-EF8345969A2A}"/>
              </a:ext>
            </a:extLst>
          </p:cNvPr>
          <p:cNvSpPr txBox="1"/>
          <p:nvPr/>
        </p:nvSpPr>
        <p:spPr>
          <a:xfrm>
            <a:off x="762000" y="3429000"/>
            <a:ext cx="6858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>
                <a:solidFill>
                  <a:schemeClr val="accent3"/>
                </a:solidFill>
              </a:rPr>
              <a:t>Working draft for internal review</a:t>
            </a:r>
          </a:p>
        </p:txBody>
      </p:sp>
    </p:spTree>
    <p:extLst>
      <p:ext uri="{BB962C8B-B14F-4D97-AF65-F5344CB8AC3E}">
        <p14:creationId xmlns:p14="http://schemas.microsoft.com/office/powerpoint/2010/main" val="3449414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08AF8-D299-F898-D70E-2040F3266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1000"/>
            <a:ext cx="10668000" cy="762000"/>
          </a:xfrm>
        </p:spPr>
        <p:txBody>
          <a:bodyPr/>
          <a:lstStyle/>
          <a:p>
            <a:r>
              <a:rPr lang="en-US"/>
              <a:t>Volume outlook supports a second line</a:t>
            </a:r>
          </a:p>
        </p:txBody>
      </p:sp>
      <p:sp>
        <p:nvSpPr>
          <p:cNvPr id="3" name="BodyContent">
            <a:extLst>
              <a:ext uri="{FF2B5EF4-FFF2-40B4-BE49-F238E27FC236}">
                <a16:creationId xmlns:a16="http://schemas.microsoft.com/office/drawing/2014/main" id="{FA157FEF-0C2E-F39B-D270-8C59D7B50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524000"/>
            <a:ext cx="10668000" cy="3048000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US"/>
              <a:t>Committed volume fills the current line</a:t>
            </a:r>
          </a:p>
          <a:p>
            <a:r>
              <a:rPr lang="en-US" sz="1300"/>
              <a:t>Spot demand is turned away every month</a:t>
            </a:r>
          </a:p>
          <a:p>
            <a:r>
              <a:rPr lang="en-US">
                <a:latin typeface="Times New Roman" panose="02020603050405020304" pitchFamily="18" charset="0"/>
              </a:rPr>
              <a:t>Two anchor customers asked for capacity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Competitor lead times keep lengthening</a:t>
            </a:r>
          </a:p>
        </p:txBody>
      </p:sp>
      <p:sp>
        <p:nvSpPr>
          <p:cNvPr id="4" name="TakeawayPanel">
            <a:extLst>
              <a:ext uri="{FF2B5EF4-FFF2-40B4-BE49-F238E27FC236}">
                <a16:creationId xmlns:a16="http://schemas.microsoft.com/office/drawing/2014/main" id="{CD11158A-3AD0-2A9A-5AD0-1EDE2134C8E6}"/>
              </a:ext>
            </a:extLst>
          </p:cNvPr>
          <p:cNvSpPr/>
          <p:nvPr/>
        </p:nvSpPr>
        <p:spPr>
          <a:xfrm>
            <a:off x="762000" y="4826000"/>
            <a:ext cx="10668000" cy="889000"/>
          </a:xfrm>
          <a:prstGeom prst="roundRect">
            <a:avLst>
              <a:gd name="adj" fmla="val 12000"/>
            </a:avLst>
          </a:prstGeom>
          <a:solidFill>
            <a:srgbClr val="DCE3E8"/>
          </a:solidFill>
          <a:ln w="15875">
            <a:solidFill>
              <a:srgbClr val="14324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>
                <a:solidFill>
                  <a:schemeClr val="dk1"/>
                </a:solidFill>
              </a:rPr>
              <a:t>Key takeaway</a:t>
            </a:r>
          </a:p>
          <a:p>
            <a:r>
              <a:rPr lang="en-US" sz="1400">
                <a:solidFill>
                  <a:schemeClr val="dk1"/>
                </a:solidFill>
              </a:rPr>
              <a:t>Demand evidence supports the expansion case</a:t>
            </a:r>
          </a:p>
        </p:txBody>
      </p:sp>
      <p:sp>
        <p:nvSpPr>
          <p:cNvPr id="5" name="FooterNote">
            <a:extLst>
              <a:ext uri="{FF2B5EF4-FFF2-40B4-BE49-F238E27FC236}">
                <a16:creationId xmlns:a16="http://schemas.microsoft.com/office/drawing/2014/main" id="{1E15E7E3-C186-2144-C554-E3B5FCAA4C9B}"/>
              </a:ext>
            </a:extLst>
          </p:cNvPr>
          <p:cNvSpPr txBox="1"/>
          <p:nvPr/>
        </p:nvSpPr>
        <p:spPr>
          <a:xfrm>
            <a:off x="762000" y="6375400"/>
            <a:ext cx="381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chemeClr val="accent3"/>
                </a:solidFill>
              </a:rPr>
              <a:t>Meridian Advisory | synthetic corpus</a:t>
            </a:r>
          </a:p>
        </p:txBody>
      </p:sp>
      <p:sp>
        <p:nvSpPr>
          <p:cNvPr id="6" name="FooterPage">
            <a:extLst>
              <a:ext uri="{FF2B5EF4-FFF2-40B4-BE49-F238E27FC236}">
                <a16:creationId xmlns:a16="http://schemas.microsoft.com/office/drawing/2014/main" id="{A1E86459-EF11-CF62-81FA-051469F52B37}"/>
              </a:ext>
            </a:extLst>
          </p:cNvPr>
          <p:cNvSpPr txBox="1"/>
          <p:nvPr/>
        </p:nvSpPr>
        <p:spPr>
          <a:xfrm>
            <a:off x="9906000" y="6375400"/>
            <a:ext cx="152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100">
                <a:solidFill>
                  <a:schemeClr val="accent3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496005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29CC0-66CE-DDB2-B499-4228C2011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1000"/>
            <a:ext cx="10668000" cy="762000"/>
          </a:xfrm>
        </p:spPr>
        <p:txBody>
          <a:bodyPr/>
          <a:lstStyle/>
          <a:p>
            <a:r>
              <a:rPr lang="en-US"/>
              <a:t>Site shortlist narrows to two regions</a:t>
            </a:r>
          </a:p>
        </p:txBody>
      </p:sp>
      <p:sp>
        <p:nvSpPr>
          <p:cNvPr id="3" name="BodyContent">
            <a:extLst>
              <a:ext uri="{FF2B5EF4-FFF2-40B4-BE49-F238E27FC236}">
                <a16:creationId xmlns:a16="http://schemas.microsoft.com/office/drawing/2014/main" id="{340A8F29-9092-C530-5513-FCF1EC6FD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524000"/>
            <a:ext cx="10668000" cy="3048000"/>
          </a:xfrm>
        </p:spPr>
        <p:txBody>
          <a:bodyPr/>
          <a:lstStyle/>
          <a:p>
            <a:r>
              <a:rPr lang="en-US"/>
              <a:t>Northern site has the stronger labor pool</a:t>
            </a:r>
          </a:p>
          <a:p>
            <a:pPr lvl="1"/>
            <a:r>
              <a:rPr lang="en-US"/>
              <a:t>Training partner is already on site</a:t>
            </a:r>
          </a:p>
          <a:p>
            <a:r>
              <a:rPr lang="en-US"/>
              <a:t>Southern site has the cheaper energy</a:t>
            </a:r>
          </a:p>
          <a:p>
            <a:pPr lvl="1"/>
            <a:r>
              <a:rPr lang="en-US"/>
              <a:t>Grid interconnect is pre-approved</a:t>
            </a:r>
          </a:p>
        </p:txBody>
      </p:sp>
      <p:sp>
        <p:nvSpPr>
          <p:cNvPr id="4" name="TakeawayPanel">
            <a:extLst>
              <a:ext uri="{FF2B5EF4-FFF2-40B4-BE49-F238E27FC236}">
                <a16:creationId xmlns:a16="http://schemas.microsoft.com/office/drawing/2014/main" id="{E80633C9-3A90-703F-C619-647595852FBC}"/>
              </a:ext>
            </a:extLst>
          </p:cNvPr>
          <p:cNvSpPr/>
          <p:nvPr/>
        </p:nvSpPr>
        <p:spPr>
          <a:xfrm>
            <a:off x="762000" y="4826000"/>
            <a:ext cx="10668000" cy="889000"/>
          </a:xfrm>
          <a:prstGeom prst="roundRect">
            <a:avLst>
              <a:gd name="adj" fmla="val 12000"/>
            </a:avLst>
          </a:prstGeom>
          <a:solidFill>
            <a:srgbClr val="DCE3E8"/>
          </a:solidFill>
          <a:ln w="31750">
            <a:solidFill>
              <a:srgbClr val="14324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>
                <a:solidFill>
                  <a:schemeClr val="dk1"/>
                </a:solidFill>
              </a:rPr>
              <a:t>Key takeaway</a:t>
            </a:r>
          </a:p>
          <a:p>
            <a:r>
              <a:rPr lang="en-US" sz="1400">
                <a:solidFill>
                  <a:schemeClr val="dk1"/>
                </a:solidFill>
              </a:rPr>
              <a:t>Both sites clear the hurdle rate; labor risk separates them</a:t>
            </a:r>
          </a:p>
        </p:txBody>
      </p:sp>
      <p:sp>
        <p:nvSpPr>
          <p:cNvPr id="5" name="FooterNote">
            <a:extLst>
              <a:ext uri="{FF2B5EF4-FFF2-40B4-BE49-F238E27FC236}">
                <a16:creationId xmlns:a16="http://schemas.microsoft.com/office/drawing/2014/main" id="{608470A7-6652-9657-5B84-D348E7723067}"/>
              </a:ext>
            </a:extLst>
          </p:cNvPr>
          <p:cNvSpPr txBox="1"/>
          <p:nvPr/>
        </p:nvSpPr>
        <p:spPr>
          <a:xfrm>
            <a:off x="762000" y="6375400"/>
            <a:ext cx="381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chemeClr val="accent3"/>
                </a:solidFill>
              </a:rPr>
              <a:t>Meridian Advisory | synthetic corpus</a:t>
            </a:r>
          </a:p>
        </p:txBody>
      </p:sp>
      <p:sp>
        <p:nvSpPr>
          <p:cNvPr id="6" name="FooterPage">
            <a:extLst>
              <a:ext uri="{FF2B5EF4-FFF2-40B4-BE49-F238E27FC236}">
                <a16:creationId xmlns:a16="http://schemas.microsoft.com/office/drawing/2014/main" id="{9ACF4E07-B0CF-32DD-6F94-66184E3F238F}"/>
              </a:ext>
            </a:extLst>
          </p:cNvPr>
          <p:cNvSpPr txBox="1"/>
          <p:nvPr/>
        </p:nvSpPr>
        <p:spPr>
          <a:xfrm>
            <a:off x="9906000" y="6375400"/>
            <a:ext cx="152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100">
                <a:solidFill>
                  <a:schemeClr val="accent3"/>
                </a:solidFill>
              </a:rPr>
              <a:t>03</a:t>
            </a:r>
          </a:p>
        </p:txBody>
      </p:sp>
      <p:sp>
        <p:nvSpPr>
          <p:cNvPr id="7" name="OffGridPanel">
            <a:extLst>
              <a:ext uri="{FF2B5EF4-FFF2-40B4-BE49-F238E27FC236}">
                <a16:creationId xmlns:a16="http://schemas.microsoft.com/office/drawing/2014/main" id="{4C32E1F7-5B49-268D-1E76-958EDB53E685}"/>
              </a:ext>
            </a:extLst>
          </p:cNvPr>
          <p:cNvSpPr/>
          <p:nvPr/>
        </p:nvSpPr>
        <p:spPr>
          <a:xfrm>
            <a:off x="8661400" y="1905000"/>
            <a:ext cx="3048000" cy="1524000"/>
          </a:xfrm>
          <a:prstGeom prst="roundRect">
            <a:avLst>
              <a:gd name="adj" fmla="val 12000"/>
            </a:avLst>
          </a:prstGeom>
          <a:solidFill>
            <a:srgbClr val="DCE3E8"/>
          </a:solidFill>
          <a:ln w="15875">
            <a:solidFill>
              <a:srgbClr val="14324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>
                <a:solidFill>
                  <a:schemeClr val="dk1"/>
                </a:solidFill>
              </a:rPr>
              <a:t>Side note</a:t>
            </a:r>
          </a:p>
          <a:p>
            <a:r>
              <a:rPr lang="en-US" sz="1400">
                <a:solidFill>
                  <a:schemeClr val="dk1"/>
                </a:solidFill>
              </a:rPr>
              <a:t>Late addition, pasted in</a:t>
            </a:r>
          </a:p>
        </p:txBody>
      </p:sp>
    </p:spTree>
    <p:extLst>
      <p:ext uri="{BB962C8B-B14F-4D97-AF65-F5344CB8AC3E}">
        <p14:creationId xmlns:p14="http://schemas.microsoft.com/office/powerpoint/2010/main" val="3414885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CDFDC-74EF-8E3F-E4AC-85530ED99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1000"/>
            <a:ext cx="10668000" cy="762000"/>
          </a:xfrm>
        </p:spPr>
        <p:txBody>
          <a:bodyPr/>
          <a:lstStyle/>
          <a:p>
            <a:r>
              <a:rPr lang="en-US"/>
              <a:t>Lease the shell or build to suit</a:t>
            </a:r>
          </a:p>
        </p:txBody>
      </p:sp>
      <p:sp>
        <p:nvSpPr>
          <p:cNvPr id="3" name="ColumnPanelLeft">
            <a:extLst>
              <a:ext uri="{FF2B5EF4-FFF2-40B4-BE49-F238E27FC236}">
                <a16:creationId xmlns:a16="http://schemas.microsoft.com/office/drawing/2014/main" id="{3FA39C06-CF47-C62E-65DB-EB0B952BFCA8}"/>
              </a:ext>
            </a:extLst>
          </p:cNvPr>
          <p:cNvSpPr/>
          <p:nvPr/>
        </p:nvSpPr>
        <p:spPr>
          <a:xfrm>
            <a:off x="762000" y="1524000"/>
            <a:ext cx="3048000" cy="3810000"/>
          </a:xfrm>
          <a:prstGeom prst="roundRect">
            <a:avLst>
              <a:gd name="adj" fmla="val 12000"/>
            </a:avLst>
          </a:prstGeom>
          <a:solidFill>
            <a:srgbClr val="DCE3E8"/>
          </a:solidFill>
          <a:ln w="15875">
            <a:solidFill>
              <a:srgbClr val="14324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>
                <a:solidFill>
                  <a:srgbClr val="20262B"/>
                </a:solidFill>
              </a:rPr>
              <a:t>Lease shell</a:t>
            </a:r>
          </a:p>
          <a:p>
            <a:r>
              <a:rPr lang="en-US" sz="1400">
                <a:solidFill>
                  <a:schemeClr val="dk1"/>
                </a:solidFill>
              </a:rPr>
              <a:t>Occupancy in two quarters</a:t>
            </a:r>
          </a:p>
          <a:p>
            <a:r>
              <a:rPr lang="en-US" sz="1400">
                <a:solidFill>
                  <a:schemeClr val="dk1"/>
                </a:solidFill>
              </a:rPr>
              <a:t>Landlord controls expansion</a:t>
            </a:r>
          </a:p>
          <a:p>
            <a:r>
              <a:rPr lang="en-US" sz="1400">
                <a:solidFill>
                  <a:schemeClr val="dk1"/>
                </a:solidFill>
              </a:rPr>
              <a:t>Lower upfront cash</a:t>
            </a:r>
          </a:p>
        </p:txBody>
      </p:sp>
      <p:sp>
        <p:nvSpPr>
          <p:cNvPr id="4" name="ColumnPanelRight">
            <a:extLst>
              <a:ext uri="{FF2B5EF4-FFF2-40B4-BE49-F238E27FC236}">
                <a16:creationId xmlns:a16="http://schemas.microsoft.com/office/drawing/2014/main" id="{6F713C56-30FF-4E17-32B4-E3A202D5F316}"/>
              </a:ext>
            </a:extLst>
          </p:cNvPr>
          <p:cNvSpPr/>
          <p:nvPr/>
        </p:nvSpPr>
        <p:spPr>
          <a:xfrm>
            <a:off x="4572000" y="1524000"/>
            <a:ext cx="3048000" cy="3810000"/>
          </a:xfrm>
          <a:prstGeom prst="roundRect">
            <a:avLst>
              <a:gd name="adj" fmla="val 12000"/>
            </a:avLst>
          </a:prstGeom>
          <a:solidFill>
            <a:srgbClr val="8E44AD"/>
          </a:solidFill>
          <a:ln w="15875">
            <a:solidFill>
              <a:srgbClr val="14324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>
                <a:solidFill>
                  <a:schemeClr val="dk1"/>
                </a:solidFill>
              </a:rPr>
              <a:t>Build to suit</a:t>
            </a:r>
          </a:p>
          <a:p>
            <a:r>
              <a:rPr lang="en-US" sz="1400">
                <a:solidFill>
                  <a:schemeClr val="dk1"/>
                </a:solidFill>
              </a:rPr>
              <a:t>Occupancy in six quarters</a:t>
            </a:r>
          </a:p>
          <a:p>
            <a:r>
              <a:rPr lang="en-US" sz="1400">
                <a:solidFill>
                  <a:schemeClr val="dk1"/>
                </a:solidFill>
              </a:rPr>
              <a:t>Full layout control</a:t>
            </a:r>
          </a:p>
          <a:p>
            <a:r>
              <a:rPr lang="en-US" sz="1400">
                <a:solidFill>
                  <a:schemeClr val="dk1"/>
                </a:solidFill>
              </a:rPr>
              <a:t>Higher upfront cash</a:t>
            </a:r>
          </a:p>
        </p:txBody>
      </p:sp>
      <p:pic>
        <p:nvPicPr>
          <p:cNvPr id="6" name="SidebarExhibit">
            <a:extLst>
              <a:ext uri="{FF2B5EF4-FFF2-40B4-BE49-F238E27FC236}">
                <a16:creationId xmlns:a16="http://schemas.microsoft.com/office/drawing/2014/main" id="{09B83E10-738C-2244-8D7E-3E421A4AEA9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1524000"/>
            <a:ext cx="3048000" cy="2286000"/>
          </a:xfrm>
          <a:prstGeom prst="rect">
            <a:avLst/>
          </a:prstGeom>
        </p:spPr>
      </p:pic>
      <p:sp>
        <p:nvSpPr>
          <p:cNvPr id="7" name="SidebarCaption">
            <a:extLst>
              <a:ext uri="{FF2B5EF4-FFF2-40B4-BE49-F238E27FC236}">
                <a16:creationId xmlns:a16="http://schemas.microsoft.com/office/drawing/2014/main" id="{0ADC833C-7084-1EBB-FDD5-3ADFA9F9E0FF}"/>
              </a:ext>
            </a:extLst>
          </p:cNvPr>
          <p:cNvSpPr txBox="1"/>
          <p:nvPr/>
        </p:nvSpPr>
        <p:spPr>
          <a:xfrm>
            <a:off x="8382000" y="4000500"/>
            <a:ext cx="3048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i="1">
                <a:solidFill>
                  <a:schemeClr val="accent3"/>
                </a:solidFill>
              </a:rPr>
              <a:t>Exhibit 1 - site options, synthetic</a:t>
            </a:r>
          </a:p>
        </p:txBody>
      </p:sp>
      <p:sp>
        <p:nvSpPr>
          <p:cNvPr id="8" name="FooterNote">
            <a:extLst>
              <a:ext uri="{FF2B5EF4-FFF2-40B4-BE49-F238E27FC236}">
                <a16:creationId xmlns:a16="http://schemas.microsoft.com/office/drawing/2014/main" id="{3211230A-375B-EFCF-6D1F-31958C531499}"/>
              </a:ext>
            </a:extLst>
          </p:cNvPr>
          <p:cNvSpPr txBox="1"/>
          <p:nvPr/>
        </p:nvSpPr>
        <p:spPr>
          <a:xfrm>
            <a:off x="762000" y="6375400"/>
            <a:ext cx="381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chemeClr val="accent3"/>
                </a:solidFill>
              </a:rPr>
              <a:t>Meridian Advisory | synthetic corpus</a:t>
            </a:r>
          </a:p>
        </p:txBody>
      </p:sp>
      <p:sp>
        <p:nvSpPr>
          <p:cNvPr id="9" name="FooterPage">
            <a:extLst>
              <a:ext uri="{FF2B5EF4-FFF2-40B4-BE49-F238E27FC236}">
                <a16:creationId xmlns:a16="http://schemas.microsoft.com/office/drawing/2014/main" id="{80F61515-FA91-6B40-29B5-A383EA22A6E1}"/>
              </a:ext>
            </a:extLst>
          </p:cNvPr>
          <p:cNvSpPr txBox="1"/>
          <p:nvPr/>
        </p:nvSpPr>
        <p:spPr>
          <a:xfrm>
            <a:off x="9906000" y="6375400"/>
            <a:ext cx="152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100">
                <a:solidFill>
                  <a:schemeClr val="accent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230381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9BA7F-79ED-C0EC-443A-1CC22E50F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762000"/>
          </a:xfrm>
        </p:spPr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3" name="ClosingRule">
            <a:extLst>
              <a:ext uri="{FF2B5EF4-FFF2-40B4-BE49-F238E27FC236}">
                <a16:creationId xmlns:a16="http://schemas.microsoft.com/office/drawing/2014/main" id="{BCFFACAA-21CE-F653-CDB4-70D963391D7F}"/>
              </a:ext>
            </a:extLst>
          </p:cNvPr>
          <p:cNvSpPr/>
          <p:nvPr/>
        </p:nvSpPr>
        <p:spPr>
          <a:xfrm>
            <a:off x="762000" y="2286000"/>
            <a:ext cx="3048000" cy="762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actPanel">
            <a:extLst>
              <a:ext uri="{FF2B5EF4-FFF2-40B4-BE49-F238E27FC236}">
                <a16:creationId xmlns:a16="http://schemas.microsoft.com/office/drawing/2014/main" id="{456B7AF7-B286-217C-4D9C-7827361D54AE}"/>
              </a:ext>
            </a:extLst>
          </p:cNvPr>
          <p:cNvSpPr/>
          <p:nvPr/>
        </p:nvSpPr>
        <p:spPr>
          <a:xfrm>
            <a:off x="4572000" y="3683000"/>
            <a:ext cx="3048000" cy="1778000"/>
          </a:xfrm>
          <a:prstGeom prst="roundRect">
            <a:avLst>
              <a:gd name="adj" fmla="val 12000"/>
            </a:avLst>
          </a:prstGeom>
          <a:solidFill>
            <a:srgbClr val="DCE3E8"/>
          </a:solidFill>
          <a:ln w="15875">
            <a:solidFill>
              <a:srgbClr val="14324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>
                <a:solidFill>
                  <a:schemeClr val="dk1"/>
                </a:solidFill>
              </a:rPr>
              <a:t>Contact</a:t>
            </a:r>
          </a:p>
          <a:p>
            <a:r>
              <a:rPr lang="en-US" sz="1400">
                <a:solidFill>
                  <a:schemeClr val="dk1"/>
                </a:solidFill>
              </a:rPr>
              <a:t>Meridian Advisory</a:t>
            </a:r>
          </a:p>
          <a:p>
            <a:r>
              <a:rPr lang="en-US" sz="1400">
                <a:solidFill>
                  <a:schemeClr val="dk1"/>
                </a:solidFill>
              </a:rPr>
              <a:t>expansion team, synthetic</a:t>
            </a:r>
          </a:p>
          <a:p>
            <a:r>
              <a:rPr lang="en-US" sz="1400">
                <a:solidFill>
                  <a:schemeClr val="dk1"/>
                </a:solidFill>
              </a:rPr>
              <a:t>meridian.example</a:t>
            </a:r>
          </a:p>
        </p:txBody>
      </p:sp>
      <p:sp>
        <p:nvSpPr>
          <p:cNvPr id="5" name="FooterNote">
            <a:extLst>
              <a:ext uri="{FF2B5EF4-FFF2-40B4-BE49-F238E27FC236}">
                <a16:creationId xmlns:a16="http://schemas.microsoft.com/office/drawing/2014/main" id="{52EE8E12-40A0-09C8-0C50-24F79017E2BC}"/>
              </a:ext>
            </a:extLst>
          </p:cNvPr>
          <p:cNvSpPr txBox="1"/>
          <p:nvPr/>
        </p:nvSpPr>
        <p:spPr>
          <a:xfrm>
            <a:off x="762000" y="6375400"/>
            <a:ext cx="381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chemeClr val="accent3"/>
                </a:solidFill>
              </a:rPr>
              <a:t>Meridian Advisory | synthetic corpus</a:t>
            </a:r>
          </a:p>
        </p:txBody>
      </p:sp>
      <p:sp>
        <p:nvSpPr>
          <p:cNvPr id="6" name="FooterPage">
            <a:extLst>
              <a:ext uri="{FF2B5EF4-FFF2-40B4-BE49-F238E27FC236}">
                <a16:creationId xmlns:a16="http://schemas.microsoft.com/office/drawing/2014/main" id="{07AD6BF1-361D-56B3-D1AB-FF43F3DF496F}"/>
              </a:ext>
            </a:extLst>
          </p:cNvPr>
          <p:cNvSpPr txBox="1"/>
          <p:nvPr/>
        </p:nvSpPr>
        <p:spPr>
          <a:xfrm>
            <a:off x="9906000" y="6375400"/>
            <a:ext cx="152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100">
                <a:solidFill>
                  <a:schemeClr val="accent3"/>
                </a:solidFill>
              </a:rPr>
              <a:t>05</a:t>
            </a:r>
          </a:p>
        </p:txBody>
      </p:sp>
      <p:sp>
        <p:nvSpPr>
          <p:cNvPr id="7" name="StragglerNote">
            <a:extLst>
              <a:ext uri="{FF2B5EF4-FFF2-40B4-BE49-F238E27FC236}">
                <a16:creationId xmlns:a16="http://schemas.microsoft.com/office/drawing/2014/main" id="{60A7FC18-0F73-7FA0-1FB7-25B862BD3628}"/>
              </a:ext>
            </a:extLst>
          </p:cNvPr>
          <p:cNvSpPr txBox="1"/>
          <p:nvPr/>
        </p:nvSpPr>
        <p:spPr>
          <a:xfrm>
            <a:off x="5080000" y="6413500"/>
            <a:ext cx="254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/>
              <a:t>Draft - not for distribution</a:t>
            </a:r>
          </a:p>
        </p:txBody>
      </p:sp>
    </p:spTree>
    <p:extLst>
      <p:ext uri="{BB962C8B-B14F-4D97-AF65-F5344CB8AC3E}">
        <p14:creationId xmlns:p14="http://schemas.microsoft.com/office/powerpoint/2010/main" val="2486395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20262B"/>
      </a:dk1>
      <a:lt1>
        <a:srgbClr val="FAF9F6"/>
      </a:lt1>
      <a:dk2>
        <a:srgbClr val="14324F"/>
      </a:dk2>
      <a:lt2>
        <a:srgbClr val="DCE3E8"/>
      </a:lt2>
      <a:accent1>
        <a:srgbClr val="1B7F79"/>
      </a:accent1>
      <a:accent2>
        <a:srgbClr val="D97C2B"/>
      </a:accent2>
      <a:accent3>
        <a:srgbClr val="3E5C76"/>
      </a:accent3>
      <a:accent4>
        <a:srgbClr val="8A5A83"/>
      </a:accent4>
      <a:accent5>
        <a:srgbClr val="5E8C61"/>
      </a:accent5>
      <a:accent6>
        <a:srgbClr val="B23A48"/>
      </a:accent6>
      <a:hlink>
        <a:srgbClr val="176B87"/>
      </a:hlink>
      <a:folHlink>
        <a:srgbClr val="6D5D8F"/>
      </a:folHlink>
    </a:clrScheme>
    <a:fontScheme name="Office">
      <a:majorFont>
        <a:latin typeface="Georgia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</Words>
  <Application>Microsoft Office PowerPoint</Application>
  <PresentationFormat>Widescreen</PresentationFormat>
  <Paragraphs>42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Georgia</vt:lpstr>
      <vt:lpstr>Times New Roman</vt:lpstr>
      <vt:lpstr>Office Theme</vt:lpstr>
      <vt:lpstr>Regional expansion options</vt:lpstr>
      <vt:lpstr>Volume outlook supports a second line</vt:lpstr>
      <vt:lpstr>Site shortlist narrows to two regions</vt:lpstr>
      <vt:lpstr>Lease the shell or build to suit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 Timmons</dc:creator>
  <cp:lastModifiedBy>Matt Timmons</cp:lastModifiedBy>
  <cp:revision>1</cp:revision>
  <dcterms:created xsi:type="dcterms:W3CDTF">2026-07-05T18:35:07Z</dcterms:created>
  <dcterms:modified xsi:type="dcterms:W3CDTF">2026-07-05T18:35:07Z</dcterms:modified>
</cp:coreProperties>
</file>