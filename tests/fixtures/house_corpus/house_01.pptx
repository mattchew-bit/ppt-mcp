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6054-D6C2-5150-4AD6-5AB9136E9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5FA68-F704-1AF5-9CC6-B2CE47984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2D665-851C-08A2-6FD8-8128F9FA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FBDB-0F3E-C6D9-3CAB-2C27C60F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60FC-9FF5-5F05-822F-6162F8B7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0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CF6F-34B2-0512-CEF5-1B4807C5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288EF-678B-7D18-C9C7-801AE3517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FAF88-2638-C959-820B-3F1865E6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C6BF8-EBCD-0AAD-EFEF-345B6568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6F562-AE1B-9686-8976-487FB101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2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2C6C-8436-9C62-5473-13FCE0FE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BEAEE-29A2-556D-175B-B29165CE7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4F470-AC83-BD88-C6FB-0846CF1B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61148-2812-3122-00BF-A32CE84D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AF055-9A9F-EAD0-1A52-4F28B83D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5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7AAD-34C7-015A-6A29-FE8FABE8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7890C-D0AC-CE09-9391-F94766291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6B033-C832-527C-2ED7-42AD3F5E6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A12CC-1570-3D1C-9A33-18357463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2D3F7-9DDC-5477-CDF3-28071F60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55826-AFC9-EF59-6D9D-63F09215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40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7096-E2B0-C16E-D46E-5139CB640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A2970-6888-68A5-2E68-F6CBB13A9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830B8-78BD-A504-355F-9CB3674E2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18255-C2DA-B2CF-6E98-DAC2D6790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605EA-E8BE-F959-6DC2-99E0F6DC6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0A8518-3353-3C56-3AF3-E495BB2F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A740F-E6E2-75CF-BA58-E9E921B2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7A8080-BA71-BAB3-DE49-B65F8430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1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2BBD-BD65-902B-A721-41935F984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6905A-2DAE-8A43-E8FF-A1D726116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866CF-B74B-0CBD-7293-FC93127E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F2C75-8CFE-CE51-CDD2-2D516CFC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2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2B96E-7107-D035-03DE-3D5C0F6B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51653-29A5-E918-A91C-8D170F81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D3D63-0C16-5DAB-AA4B-D76C9783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1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00649-104A-2B1E-015F-1B810F62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AE5DC-40F0-B587-7B4C-EB100346D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4EF21-CC4E-DD5B-1CB0-016746B69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9DA31-D5A9-40FF-F61C-C26E5AB5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27C33-E905-81DA-5C9B-D6A9F542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990DB-DABA-1EAF-0F7F-2BA8E470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1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1CF7-EA34-1B05-19A9-591CDC8B4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185666-3BF7-8229-D026-8C9532D2CF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A3716-351E-628D-C8A9-66F6E9CD7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7CCB5-48D0-D830-C1EB-39E617FE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15EB0-CC3A-9806-8257-844929063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44E9A-CC83-D2D8-2A1B-4CC5B0E8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3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AAFE-F044-B18E-2DA7-9935DB70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A9D8-D038-8450-18E9-9C0786731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7F40A-E4D8-D731-8A32-54C70F18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4273-C686-F460-DA1D-5F9A8DDC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E3C35-FCAD-667D-0880-6E4EBB03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1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8D688-8851-E85A-7A45-E231204AD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2A8BE-F923-77F6-B161-2480136F1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ABFCB-6880-B42B-44FC-080EE390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356FA-387A-43E7-EFB6-2145DB97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36A8B-BEFD-D6CD-572F-310280E4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Hou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17D69D-3059-BC6B-644B-369F8546C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8D787-E99A-BA0A-EBEB-7724B30B5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106680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95DBB-6B1F-0142-0607-5C89D1A51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3B9BB-A0C8-4FD6-8314-AEECA7E640F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BFC32-19D6-EA58-3EBE-8486D5B27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39A2F-009D-CE37-BC4A-6A961E671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5F84D-C38A-48F1-AC54-42F086348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4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800"/>
        </a:spcAft>
        <a:buSzPct val="95000"/>
        <a:buFont typeface="Arial" panose="020B0604020202020204" pitchFamily="34" charset="0"/>
        <a:buChar char="—"/>
        <a:defRPr sz="1400" kern="12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500"/>
        </a:spcAft>
        <a:buSzPct val="90000"/>
        <a:buFont typeface="Arial" panose="020B0604020202020204" pitchFamily="34" charset="0"/>
        <a:buChar char="·"/>
        <a:defRPr sz="1100" kern="1200">
          <a:solidFill>
            <a:schemeClr val="dk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"/>
        </a:spcBef>
        <a:spcAft>
          <a:spcPts val="400"/>
        </a:spcAft>
        <a:buSzPct val="90000"/>
        <a:buFont typeface="Arial" panose="020B0604020202020204" pitchFamily="34" charset="0"/>
        <a:buChar char="&gt;"/>
        <a:defRPr sz="1100" kern="1200">
          <a:solidFill>
            <a:schemeClr val="dk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B6F5-5549-F2F0-A5B8-91D3BA4C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0"/>
            <a:ext cx="10668000" cy="889000"/>
          </a:xfrm>
        </p:spPr>
        <p:txBody>
          <a:bodyPr/>
          <a:lstStyle/>
          <a:p>
            <a:r>
              <a:rPr lang="en-US"/>
              <a:t>Meridian market entry review</a:t>
            </a:r>
          </a:p>
        </p:txBody>
      </p:sp>
      <p:sp>
        <p:nvSpPr>
          <p:cNvPr id="3" name="TitleRule">
            <a:extLst>
              <a:ext uri="{FF2B5EF4-FFF2-40B4-BE49-F238E27FC236}">
                <a16:creationId xmlns:a16="http://schemas.microsoft.com/office/drawing/2014/main" id="{313B27E8-893D-F3F2-19DD-F2C69F398632}"/>
              </a:ext>
            </a:extLst>
          </p:cNvPr>
          <p:cNvSpPr/>
          <p:nvPr/>
        </p:nvSpPr>
        <p:spPr>
          <a:xfrm>
            <a:off x="762000" y="1905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Box">
            <a:extLst>
              <a:ext uri="{FF2B5EF4-FFF2-40B4-BE49-F238E27FC236}">
                <a16:creationId xmlns:a16="http://schemas.microsoft.com/office/drawing/2014/main" id="{0333B400-EFB7-DC2F-A276-8A459E41C651}"/>
              </a:ext>
            </a:extLst>
          </p:cNvPr>
          <p:cNvSpPr txBox="1"/>
          <p:nvPr/>
        </p:nvSpPr>
        <p:spPr>
          <a:xfrm>
            <a:off x="762000" y="3429000"/>
            <a:ext cx="685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chemeClr val="accent3"/>
                </a:solidFill>
              </a:rPr>
              <a:t>Prepared for the executive committee</a:t>
            </a:r>
          </a:p>
        </p:txBody>
      </p:sp>
    </p:spTree>
    <p:extLst>
      <p:ext uri="{BB962C8B-B14F-4D97-AF65-F5344CB8AC3E}">
        <p14:creationId xmlns:p14="http://schemas.microsoft.com/office/powerpoint/2010/main" val="378874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96E7-189B-0B5E-467D-60A0C327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Agenda for the working session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1569FD5D-0F34-C32E-CDFF-72DE2DBF4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6858000" cy="4191000"/>
          </a:xfrm>
        </p:spPr>
        <p:txBody>
          <a:bodyPr/>
          <a:lstStyle/>
          <a:p>
            <a:r>
              <a:rPr lang="en-US"/>
              <a:t>Where the market stands today</a:t>
            </a:r>
          </a:p>
          <a:p>
            <a:r>
              <a:rPr lang="en-US"/>
              <a:t>Entry routes on the shortlist</a:t>
            </a:r>
          </a:p>
          <a:p>
            <a:r>
              <a:rPr lang="en-US"/>
              <a:t>Investment ask and phasing</a:t>
            </a:r>
          </a:p>
          <a:p>
            <a:r>
              <a:rPr lang="en-US"/>
              <a:t>Decision points for this committee</a:t>
            </a:r>
          </a:p>
          <a:p>
            <a:r>
              <a:rPr lang="en-US"/>
              <a:t>Next steps and owners</a:t>
            </a:r>
          </a:p>
        </p:txBody>
      </p:sp>
      <p:pic>
        <p:nvPicPr>
          <p:cNvPr id="5" name="SidebarExhibit">
            <a:extLst>
              <a:ext uri="{FF2B5EF4-FFF2-40B4-BE49-F238E27FC236}">
                <a16:creationId xmlns:a16="http://schemas.microsoft.com/office/drawing/2014/main" id="{69A1F199-BF7C-D377-E4C2-01046082793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6" name="SidebarCaption">
            <a:extLst>
              <a:ext uri="{FF2B5EF4-FFF2-40B4-BE49-F238E27FC236}">
                <a16:creationId xmlns:a16="http://schemas.microsoft.com/office/drawing/2014/main" id="{78BF20CC-AF38-CAB8-AE01-1907029DE71F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1 - category growth, synthetic</a:t>
            </a:r>
          </a:p>
        </p:txBody>
      </p:sp>
      <p:sp>
        <p:nvSpPr>
          <p:cNvPr id="7" name="FooterNote">
            <a:extLst>
              <a:ext uri="{FF2B5EF4-FFF2-40B4-BE49-F238E27FC236}">
                <a16:creationId xmlns:a16="http://schemas.microsoft.com/office/drawing/2014/main" id="{6F807152-2382-20E5-F158-2588266E0401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8" name="FooterPage">
            <a:extLst>
              <a:ext uri="{FF2B5EF4-FFF2-40B4-BE49-F238E27FC236}">
                <a16:creationId xmlns:a16="http://schemas.microsoft.com/office/drawing/2014/main" id="{A7029AA7-49E0-0A55-82BE-4F43F5208306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5130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91E7-5956-D0D6-9CA2-D289B025B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0"/>
            <a:ext cx="10668000" cy="762000"/>
          </a:xfrm>
        </p:spPr>
        <p:txBody>
          <a:bodyPr/>
          <a:lstStyle/>
          <a:p>
            <a:r>
              <a:rPr lang="en-US"/>
              <a:t>Where the market stands</a:t>
            </a:r>
          </a:p>
        </p:txBody>
      </p:sp>
      <p:sp>
        <p:nvSpPr>
          <p:cNvPr id="3" name="SectionKicker">
            <a:extLst>
              <a:ext uri="{FF2B5EF4-FFF2-40B4-BE49-F238E27FC236}">
                <a16:creationId xmlns:a16="http://schemas.microsoft.com/office/drawing/2014/main" id="{EA02AAEB-7C22-A900-ECE2-DBDF587B9C03}"/>
              </a:ext>
            </a:extLst>
          </p:cNvPr>
          <p:cNvSpPr txBox="1"/>
          <p:nvPr/>
        </p:nvSpPr>
        <p:spPr>
          <a:xfrm>
            <a:off x="762000" y="25400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chemeClr val="accent2">
                    <a:lumMod val="75000"/>
                  </a:schemeClr>
                </a:solidFill>
              </a:rPr>
              <a:t>SECTION 01</a:t>
            </a:r>
          </a:p>
        </p:txBody>
      </p:sp>
      <p:sp>
        <p:nvSpPr>
          <p:cNvPr id="4" name="AccentRule">
            <a:extLst>
              <a:ext uri="{FF2B5EF4-FFF2-40B4-BE49-F238E27FC236}">
                <a16:creationId xmlns:a16="http://schemas.microsoft.com/office/drawing/2014/main" id="{FC34AD0E-073E-E85E-9437-283DBF8C3D3D}"/>
              </a:ext>
            </a:extLst>
          </p:cNvPr>
          <p:cNvSpPr/>
          <p:nvPr/>
        </p:nvSpPr>
        <p:spPr>
          <a:xfrm>
            <a:off x="762000" y="4064000"/>
            <a:ext cx="1066800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522E-499A-9F06-6AB8-DE3B300CB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Demand is recovering faster than supply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D617D782-EE44-2983-0332-41B8D8000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r>
              <a:rPr lang="en-US"/>
              <a:t>Category demand grew nine percent this year</a:t>
            </a:r>
          </a:p>
          <a:p>
            <a:pPr lvl="1"/>
            <a:r>
              <a:rPr lang="en-US"/>
              <a:t>Premium tier carried most of the growth</a:t>
            </a:r>
          </a:p>
          <a:p>
            <a:pPr lvl="1"/>
            <a:r>
              <a:rPr lang="en-US"/>
              <a:t>Entry tier stayed flat for four quarters</a:t>
            </a:r>
          </a:p>
          <a:p>
            <a:r>
              <a:rPr lang="en-US"/>
              <a:t>Supply additions lag by roughly two years</a:t>
            </a:r>
          </a:p>
          <a:p>
            <a:pPr lvl="1"/>
            <a:r>
              <a:rPr lang="en-US"/>
              <a:t>Two announced plants slipped to next cycle</a:t>
            </a:r>
          </a:p>
          <a:p>
            <a:pPr lvl="2"/>
            <a:r>
              <a:rPr lang="en-US"/>
              <a:t>Permitting drove both slips</a:t>
            </a:r>
          </a:p>
          <a:p>
            <a:r>
              <a:rPr lang="en-US"/>
              <a:t>Pricing held firm across all regions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23018A9B-EDE4-3270-9D80-E9D58E4E5F94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A two year demand-supply gap keeps pricing attractive for a new entrant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A03156EE-8BED-4539-4CEF-AF71DD2E627E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1B9A448A-F168-95A9-9540-2DD19FA425EF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5995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DF455-43FF-E60C-DAA9-5677BD527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Two entry routes lead the shortlist</a:t>
            </a:r>
          </a:p>
        </p:txBody>
      </p:sp>
      <p:sp>
        <p:nvSpPr>
          <p:cNvPr id="3" name="ColumnPanelLeft">
            <a:extLst>
              <a:ext uri="{FF2B5EF4-FFF2-40B4-BE49-F238E27FC236}">
                <a16:creationId xmlns:a16="http://schemas.microsoft.com/office/drawing/2014/main" id="{3DBDC4AD-2723-F7B7-9DA2-500112F58C42}"/>
              </a:ext>
            </a:extLst>
          </p:cNvPr>
          <p:cNvSpPr/>
          <p:nvPr/>
        </p:nvSpPr>
        <p:spPr>
          <a:xfrm>
            <a:off x="76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Build</a:t>
            </a:r>
          </a:p>
          <a:p>
            <a:r>
              <a:rPr lang="en-US" sz="1400">
                <a:solidFill>
                  <a:schemeClr val="dk1"/>
                </a:solidFill>
              </a:rPr>
              <a:t>Full control of the asset</a:t>
            </a:r>
          </a:p>
          <a:p>
            <a:r>
              <a:rPr lang="en-US" sz="1400">
                <a:solidFill>
                  <a:schemeClr val="dk1"/>
                </a:solidFill>
              </a:rPr>
              <a:t>Slowest route to first revenue</a:t>
            </a:r>
          </a:p>
          <a:p>
            <a:r>
              <a:rPr lang="en-US" sz="1400">
                <a:solidFill>
                  <a:schemeClr val="dk1"/>
                </a:solidFill>
              </a:rPr>
              <a:t>Highest capital at risk</a:t>
            </a:r>
          </a:p>
        </p:txBody>
      </p:sp>
      <p:sp>
        <p:nvSpPr>
          <p:cNvPr id="4" name="ColumnPanelRight">
            <a:extLst>
              <a:ext uri="{FF2B5EF4-FFF2-40B4-BE49-F238E27FC236}">
                <a16:creationId xmlns:a16="http://schemas.microsoft.com/office/drawing/2014/main" id="{3F3A4D67-56F6-571E-BBB6-C14BB9FA37B7}"/>
              </a:ext>
            </a:extLst>
          </p:cNvPr>
          <p:cNvSpPr/>
          <p:nvPr/>
        </p:nvSpPr>
        <p:spPr>
          <a:xfrm>
            <a:off x="457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Partner</a:t>
            </a:r>
          </a:p>
          <a:p>
            <a:r>
              <a:rPr lang="en-US" sz="1400">
                <a:solidFill>
                  <a:schemeClr val="dk1"/>
                </a:solidFill>
              </a:rPr>
              <a:t>Shared economics with incumbent</a:t>
            </a:r>
          </a:p>
          <a:p>
            <a:r>
              <a:rPr lang="en-US" sz="1400">
                <a:solidFill>
                  <a:schemeClr val="dk1"/>
                </a:solidFill>
              </a:rPr>
              <a:t>Fastest route to first revenue</a:t>
            </a:r>
          </a:p>
          <a:p>
            <a:r>
              <a:rPr lang="en-US" sz="1400">
                <a:solidFill>
                  <a:schemeClr val="dk1"/>
                </a:solidFill>
              </a:rPr>
              <a:t>Limited influence on roadmap</a:t>
            </a:r>
          </a:p>
        </p:txBody>
      </p:sp>
      <p:pic>
        <p:nvPicPr>
          <p:cNvPr id="6" name="SidebarExhibit">
            <a:extLst>
              <a:ext uri="{FF2B5EF4-FFF2-40B4-BE49-F238E27FC236}">
                <a16:creationId xmlns:a16="http://schemas.microsoft.com/office/drawing/2014/main" id="{6FFCA64F-BCF7-2AFB-BC1A-786C593E56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7" name="SidebarCaption">
            <a:extLst>
              <a:ext uri="{FF2B5EF4-FFF2-40B4-BE49-F238E27FC236}">
                <a16:creationId xmlns:a16="http://schemas.microsoft.com/office/drawing/2014/main" id="{65ACD34E-5101-D651-552D-FE36BA6D507C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2 - route comparison, synthetic</a:t>
            </a:r>
          </a:p>
        </p:txBody>
      </p:sp>
      <p:sp>
        <p:nvSpPr>
          <p:cNvPr id="8" name="FooterNote">
            <a:extLst>
              <a:ext uri="{FF2B5EF4-FFF2-40B4-BE49-F238E27FC236}">
                <a16:creationId xmlns:a16="http://schemas.microsoft.com/office/drawing/2014/main" id="{E1E6AECC-CA56-3615-2F64-241B673A293C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9" name="FooterPage">
            <a:extLst>
              <a:ext uri="{FF2B5EF4-FFF2-40B4-BE49-F238E27FC236}">
                <a16:creationId xmlns:a16="http://schemas.microsoft.com/office/drawing/2014/main" id="{564B2B90-7C4F-5400-CABD-898B80D7BD57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6297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6707-9245-A96F-EF05-1173900A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76200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losingRule">
            <a:extLst>
              <a:ext uri="{FF2B5EF4-FFF2-40B4-BE49-F238E27FC236}">
                <a16:creationId xmlns:a16="http://schemas.microsoft.com/office/drawing/2014/main" id="{2641C2C6-6B1F-F743-DC54-92E1DD8BB1F0}"/>
              </a:ext>
            </a:extLst>
          </p:cNvPr>
          <p:cNvSpPr/>
          <p:nvPr/>
        </p:nvSpPr>
        <p:spPr>
          <a:xfrm>
            <a:off x="762000" y="2286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actPanel">
            <a:extLst>
              <a:ext uri="{FF2B5EF4-FFF2-40B4-BE49-F238E27FC236}">
                <a16:creationId xmlns:a16="http://schemas.microsoft.com/office/drawing/2014/main" id="{963395DB-A953-B60E-49E4-BC4C3A8D86E1}"/>
              </a:ext>
            </a:extLst>
          </p:cNvPr>
          <p:cNvSpPr/>
          <p:nvPr/>
        </p:nvSpPr>
        <p:spPr>
          <a:xfrm>
            <a:off x="4572000" y="3683000"/>
            <a:ext cx="3048000" cy="1778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Contact</a:t>
            </a:r>
          </a:p>
          <a:p>
            <a:r>
              <a:rPr lang="en-US" sz="1400">
                <a:solidFill>
                  <a:schemeClr val="dk1"/>
                </a:solidFill>
              </a:rPr>
              <a:t>Meridian Advisory</a:t>
            </a:r>
          </a:p>
          <a:p>
            <a:r>
              <a:rPr lang="en-US" sz="1400">
                <a:solidFill>
                  <a:schemeClr val="dk1"/>
                </a:solidFill>
              </a:rPr>
              <a:t>strategy team, synthetic corpus</a:t>
            </a:r>
          </a:p>
          <a:p>
            <a:r>
              <a:rPr lang="en-US" sz="1400">
                <a:solidFill>
                  <a:schemeClr val="dk1"/>
                </a:solidFill>
              </a:rPr>
              <a:t>meridian.example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690C159A-3689-0162-5E5D-8527928F09FB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3373F4CF-47A4-97E9-EB2C-97D55A889F86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020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62B"/>
      </a:dk1>
      <a:lt1>
        <a:srgbClr val="FAF9F6"/>
      </a:lt1>
      <a:dk2>
        <a:srgbClr val="14324F"/>
      </a:dk2>
      <a:lt2>
        <a:srgbClr val="DCE3E8"/>
      </a:lt2>
      <a:accent1>
        <a:srgbClr val="1B7F79"/>
      </a:accent1>
      <a:accent2>
        <a:srgbClr val="D97C2B"/>
      </a:accent2>
      <a:accent3>
        <a:srgbClr val="3E5C76"/>
      </a:accent3>
      <a:accent4>
        <a:srgbClr val="8A5A83"/>
      </a:accent4>
      <a:accent5>
        <a:srgbClr val="5E8C61"/>
      </a:accent5>
      <a:accent6>
        <a:srgbClr val="B23A48"/>
      </a:accent6>
      <a:hlink>
        <a:srgbClr val="176B87"/>
      </a:hlink>
      <a:folHlink>
        <a:srgbClr val="6D5D8F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Meridian market entry review</vt:lpstr>
      <vt:lpstr>Agenda for the working session</vt:lpstr>
      <vt:lpstr>Where the market stands</vt:lpstr>
      <vt:lpstr>Demand is recovering faster than supply</vt:lpstr>
      <vt:lpstr>Two entry routes lead the shortlist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2026-07-05T18:34:58Z</dcterms:created>
  <dcterms:modified xsi:type="dcterms:W3CDTF">2026-07-05T18:34:58Z</dcterms:modified>
</cp:coreProperties>
</file>